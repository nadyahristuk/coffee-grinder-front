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8C1FB8-AA7E-4C08-AC4C-1C0CE4C4A1BA}">
  <a:tblStyle styleId="{ED8C1FB8-AA7E-4C08-AC4C-1C0CE4C4A1B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bb097fb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bb097fb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c74697e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c74697e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bce87232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bce87232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sfJJnGyQLtjJaBP5JFK4O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sfJJnGyQLtjJaBP5JFK4O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sSkISLDFnWY_94BdvbXNCR: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sSkISLDFnWY_94BdvbXNCR: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s7Kh0tUTsGpeCjvybRdHj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s7Kh0tUTsGpeCjvybRdHj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s5v4mvY8Pf-xePWAReYvg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s5v4mvY8Pf-xePWAReYvg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sXfdHBahZ0eMdodhWmjrzq: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sXfdHBahZ0eMdodhWmjrzq: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sjxnP-7CH2I4BK6JkE3nv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sjxnP-7CH2I4BK6JkE3nv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sV1hGMxsqoRg2OKqdT7zx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sV1hGMxsqoRg2OKqdT7zx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sEFRPsQvXV7iwapSZWOg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sEFRPsQvXV7iwapSZWOg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sZ55Vlk9xrwCwHjXQPfBB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sZ55Vlk9xrwCwHjXQPfBB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siljGxOna91XaOdD8M-Wy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siljGxOna91XaOdD8M-Wy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saQoFzcoJQyEFlA1MXAdiV: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saQoFzcoJQyEFlA1MXAdiV: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sZ6OAgvZBpUNrnwz_rItVC: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sZ6OAgvZBpUNrnwz_rItVC: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sel2oMEH5SBHwQCWCdMCZ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sel2oMEH5SBHwQCWCdMCZ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s1RT3ZXFg3NUGHtPmCtk6Z: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s1RT3ZXFg3NUGHtPmCtk6Z: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sY6Y3uRMr0DNk1iA2RK5r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sY6Y3uRMr0DNk1iA2RK5r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sC63sc8q4pHmhfwg-0BBDF: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sC63sc8q4pHmhfwg-0BBDF: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sDNp6cKPHgbL_YbjtuZ3S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sDNp6cKPHgbL_YbjtuZ3S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s7v-ssbBaFOpJh7HyVjJor: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s7v-ssbBaFOpJh7HyVjJor: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original.ur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apnews.com/article/government-shutdown-ice-funding-471e55ba4c3247051739ee1b50b2857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apnews.com/article/441425004d3d695df87f3f7c0b62492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cbsnews.com/news/us-iran-talks-friday-oman-iranian-drone-shot-aircraft-carr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apnews.com/article/5b1af24b0b3e65a8acb6ca7153018be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reuters.com/world/us/trump-draw-down-700-immigration-agents-minnesota-2026-02-0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reuters.com/world/us/trumps-call-nationalize-elections-draws-furious-pushback-democrats-2026-02-0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govexec.com/pay-benefits/2026/02/congress-guarantees-furloughed-feds-backpay-continued-white-house-maneuvering/41117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reuters.com/world/us/jeffrey-epsteins-ties-politicians-business-titans-other-figures-2026-02-0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courthousenews.com/articles/johnson-balks-at-dem-demands-to-halt-warrantless-searches-by-ice-agent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courthousenews.com/house-democrats-demand-dhs-scrap-memo-allowing-warrantless-entry-of-home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pbs.org/newshour/amp/politics/epstein-files-reveal-close-ties-to-trumps-influential-inner-circl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nbcphiladelphia.com/news/national-international/georgia-fulton-county-return-2020-election-documents-fbi/434543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apnews.com/article/bill-clinton-jeffrey-epstein-contempt-716148204e58a42153c5ab20a97c301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apnews.com/article/trump-hush-money-federal-court-conviction-9525210cca36aa9338523de1d23cf65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yahoo.com/entertainment/celebrity/articles/comedian-defiant-minnesota-venue-cancels-223052712.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yahoo.com/news/articles/solicitor-general-backs-catholic-preschools-000500402.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apnews.com/article/e9307c98b7ec337a3364ed9de28e6ec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www.cbsnews.com/news/russia-ukraine-war-us-trump-ceasefire-talks-ukrainians-skeptical-amid-strik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graphicFrame>
        <p:nvGraphicFramePr>
          <p:cNvPr id="54" name="Google Shape;54;p13"/>
          <p:cNvGraphicFramePr/>
          <p:nvPr/>
        </p:nvGraphicFramePr>
        <p:xfrm>
          <a:off x="0" y="-50"/>
          <a:ext cx="3000000" cy="3000000"/>
        </p:xfrm>
        <a:graphic>
          <a:graphicData uri="http://schemas.openxmlformats.org/drawingml/2006/table">
            <a:tbl>
              <a:tblPr>
                <a:noFill/>
                <a:tableStyleId>{ED8C1FB8-AA7E-4C08-AC4C-1C0CE4C4A1BA}</a:tableStyleId>
              </a:tblPr>
              <a:tblGrid>
                <a:gridCol w="1727200"/>
                <a:gridCol w="7416800"/>
              </a:tblGrid>
              <a:tr h="1764850">
                <a:tc>
                  <a:txBody>
                    <a:bodyPr/>
                    <a:lstStyle/>
                    <a:p>
                      <a:pPr indent="0" lvl="0" marL="0" rtl="0" algn="l">
                        <a:spcBef>
                          <a:spcPts val="0"/>
                        </a:spcBef>
                        <a:spcAft>
                          <a:spcPts val="0"/>
                        </a:spcAft>
                        <a:buNone/>
                      </a:pPr>
                      <a:r>
                        <a:rPr lang="en" sz="1500">
                          <a:solidFill>
                            <a:schemeClr val="lt1"/>
                          </a:solidFill>
                        </a:rPr>
                        <a:t>Big Picture</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90300">
                <a:tc rowSpan="2">
                  <a:txBody>
                    <a:bodyPr/>
                    <a:lstStyle/>
                    <a:p>
                      <a:pPr indent="0" lvl="0" marL="0" rtl="0" algn="l">
                        <a:spcBef>
                          <a:spcPts val="0"/>
                        </a:spcBef>
                        <a:spcAft>
                          <a:spcPts val="0"/>
                        </a:spcAft>
                        <a:buNone/>
                      </a:pPr>
                      <a:r>
                        <a:rPr lang="en" sz="1500">
                          <a:solidFill>
                            <a:schemeClr val="lt1"/>
                          </a:solidFill>
                        </a:rPr>
                        <a:t>America</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rowSpan="2">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492925">
                <a:tc vMerge="1"/>
                <a:tc vMerge="1"/>
              </a:tr>
            </a:tbl>
          </a:graphicData>
        </a:graphic>
      </p:graphicFrame>
      <p:sp>
        <p:nvSpPr>
          <p:cNvPr id="55" name="Google Shape;55;p13"/>
          <p:cNvSpPr/>
          <p:nvPr/>
        </p:nvSpPr>
        <p:spPr>
          <a:xfrm>
            <a:off x="1783350"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8 Trump withdraws 700 immigration agents from Minnesota deportation surge, thousands remain - Reuters</a:t>
            </a:r>
            <a:endParaRPr sz="800"/>
          </a:p>
        </p:txBody>
      </p:sp>
      <p:sp>
        <p:nvSpPr>
          <p:cNvPr id="56" name="Google Shape;56;p13"/>
          <p:cNvSpPr/>
          <p:nvPr/>
        </p:nvSpPr>
        <p:spPr>
          <a:xfrm>
            <a:off x="3009795"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9 Trump's call to 'nationalize' elections draws furious pushback from Democrats - Reuters</a:t>
            </a:r>
            <a:endParaRPr sz="800"/>
          </a:p>
        </p:txBody>
      </p:sp>
      <p:sp>
        <p:nvSpPr>
          <p:cNvPr id="57" name="Google Shape;57;p13"/>
          <p:cNvSpPr/>
          <p:nvPr/>
        </p:nvSpPr>
        <p:spPr>
          <a:xfrm>
            <a:off x="4236240"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10 Pakistan: Video of 8-month lion cub travelling in a car goes viral; netizens say 'its eyes look so sad' - Business Today</a:t>
            </a:r>
            <a:endParaRPr sz="800"/>
          </a:p>
        </p:txBody>
      </p:sp>
      <p:sp>
        <p:nvSpPr>
          <p:cNvPr id="58" name="Google Shape;58;p13"/>
          <p:cNvSpPr/>
          <p:nvPr/>
        </p:nvSpPr>
        <p:spPr>
          <a:xfrm>
            <a:off x="5462685"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11 Jeffrey Epstein's ties to politicians, business titans and other figures - Reuters</a:t>
            </a:r>
            <a:endParaRPr sz="800"/>
          </a:p>
        </p:txBody>
      </p:sp>
      <p:sp>
        <p:nvSpPr>
          <p:cNvPr id="59" name="Google Shape;59;p13"/>
          <p:cNvSpPr/>
          <p:nvPr/>
        </p:nvSpPr>
        <p:spPr>
          <a:xfrm>
            <a:off x="6689130"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12 Johnson balks at Dem demands to halt warrantless searches by ICE agents - Courthouse News</a:t>
            </a:r>
            <a:endParaRPr sz="800"/>
          </a:p>
        </p:txBody>
      </p:sp>
      <p:sp>
        <p:nvSpPr>
          <p:cNvPr id="60" name="Google Shape;60;p13"/>
          <p:cNvSpPr/>
          <p:nvPr/>
        </p:nvSpPr>
        <p:spPr>
          <a:xfrm>
            <a:off x="7915575"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13 House Democrats demand DHS scrap memo allowing warrantless entry of homes - Courthouse News</a:t>
            </a:r>
            <a:endParaRPr sz="800"/>
          </a:p>
        </p:txBody>
      </p:sp>
      <p:sp>
        <p:nvSpPr>
          <p:cNvPr id="61" name="Google Shape;61;p13"/>
          <p:cNvSpPr/>
          <p:nvPr/>
        </p:nvSpPr>
        <p:spPr>
          <a:xfrm>
            <a:off x="9204475" y="1811425"/>
            <a:ext cx="1174200" cy="7755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{{cat2_card25}}</a:t>
            </a:r>
            <a:endParaRPr sz="800"/>
          </a:p>
        </p:txBody>
      </p:sp>
      <p:sp>
        <p:nvSpPr>
          <p:cNvPr id="62" name="Google Shape;62;p13"/>
          <p:cNvSpPr/>
          <p:nvPr/>
        </p:nvSpPr>
        <p:spPr>
          <a:xfrm>
            <a:off x="9356875" y="2003784"/>
            <a:ext cx="1174200" cy="7755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{{cat2_card26}}</a:t>
            </a:r>
            <a:endParaRPr sz="800"/>
          </a:p>
        </p:txBody>
      </p:sp>
      <p:sp>
        <p:nvSpPr>
          <p:cNvPr id="63" name="Google Shape;63;p13"/>
          <p:cNvSpPr/>
          <p:nvPr/>
        </p:nvSpPr>
        <p:spPr>
          <a:xfrm>
            <a:off x="9509275" y="2196142"/>
            <a:ext cx="1174200" cy="7755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{{cat2_card27}}</a:t>
            </a:r>
            <a:endParaRPr sz="800"/>
          </a:p>
        </p:txBody>
      </p:sp>
      <p:sp>
        <p:nvSpPr>
          <p:cNvPr id="64" name="Google Shape;64;p13"/>
          <p:cNvSpPr/>
          <p:nvPr/>
        </p:nvSpPr>
        <p:spPr>
          <a:xfrm>
            <a:off x="9661675" y="2388501"/>
            <a:ext cx="1174200" cy="7755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{{cat2_card28}}</a:t>
            </a:r>
            <a:endParaRPr sz="800"/>
          </a:p>
        </p:txBody>
      </p:sp>
      <p:sp>
        <p:nvSpPr>
          <p:cNvPr id="65" name="Google Shape;65;p13"/>
          <p:cNvSpPr/>
          <p:nvPr/>
        </p:nvSpPr>
        <p:spPr>
          <a:xfrm>
            <a:off x="9814075" y="2580860"/>
            <a:ext cx="1174200" cy="7755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{{cat2_card29}}</a:t>
            </a:r>
            <a:endParaRPr sz="800"/>
          </a:p>
        </p:txBody>
      </p:sp>
      <p:sp>
        <p:nvSpPr>
          <p:cNvPr id="66" name="Google Shape;66;p13"/>
          <p:cNvSpPr/>
          <p:nvPr/>
        </p:nvSpPr>
        <p:spPr>
          <a:xfrm>
            <a:off x="9966475" y="2773219"/>
            <a:ext cx="1174200" cy="7755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{{cat2_card30}}</a:t>
            </a:r>
            <a:endParaRPr sz="800"/>
          </a:p>
        </p:txBody>
      </p:sp>
      <p:sp>
        <p:nvSpPr>
          <p:cNvPr id="67" name="Google Shape;67;p13"/>
          <p:cNvSpPr/>
          <p:nvPr/>
        </p:nvSpPr>
        <p:spPr>
          <a:xfrm>
            <a:off x="1785900" y="264676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14 Epstein files reveal close ties to Trump's influential inner circle - PBS</a:t>
            </a:r>
            <a:endParaRPr sz="800"/>
          </a:p>
        </p:txBody>
      </p:sp>
      <p:sp>
        <p:nvSpPr>
          <p:cNvPr id="68" name="Google Shape;68;p13"/>
          <p:cNvSpPr/>
          <p:nvPr/>
        </p:nvSpPr>
        <p:spPr>
          <a:xfrm>
            <a:off x="3012345" y="264676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15 Georgia's Fulton County seeks return of 2020 election documents seized by FBI - NBC10 Philadelphia</a:t>
            </a:r>
            <a:endParaRPr sz="800"/>
          </a:p>
        </p:txBody>
      </p:sp>
      <p:sp>
        <p:nvSpPr>
          <p:cNvPr id="69" name="Google Shape;69;p13"/>
          <p:cNvSpPr/>
          <p:nvPr/>
        </p:nvSpPr>
        <p:spPr>
          <a:xfrm>
            <a:off x="4238790" y="264676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16 Clintons finalize agreement to testify in House Epstein probe, bowing to threat of contempt vote - AP News</a:t>
            </a:r>
            <a:endParaRPr sz="800"/>
          </a:p>
        </p:txBody>
      </p:sp>
      <p:sp>
        <p:nvSpPr>
          <p:cNvPr id="70" name="Google Shape;70;p13"/>
          <p:cNvSpPr/>
          <p:nvPr/>
        </p:nvSpPr>
        <p:spPr>
          <a:xfrm>
            <a:off x="5465235" y="264676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17 Judge set to hear arguments as court gives Trump another shot at nixing hush money conviction - AP News</a:t>
            </a:r>
            <a:endParaRPr sz="800"/>
          </a:p>
        </p:txBody>
      </p:sp>
      <p:sp>
        <p:nvSpPr>
          <p:cNvPr id="71" name="Google Shape;71;p13"/>
          <p:cNvSpPr/>
          <p:nvPr/>
        </p:nvSpPr>
        <p:spPr>
          <a:xfrm>
            <a:off x="6691679" y="264676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{{cat2_card11}}</a:t>
            </a:r>
            <a:endParaRPr sz="800"/>
          </a:p>
        </p:txBody>
      </p:sp>
      <p:sp>
        <p:nvSpPr>
          <p:cNvPr id="72" name="Google Shape;72;p13"/>
          <p:cNvSpPr/>
          <p:nvPr/>
        </p:nvSpPr>
        <p:spPr>
          <a:xfrm>
            <a:off x="7918124" y="264676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{{cat2_card12}}</a:t>
            </a:r>
            <a:endParaRPr sz="800"/>
          </a:p>
        </p:txBody>
      </p:sp>
      <p:sp>
        <p:nvSpPr>
          <p:cNvPr id="73" name="Google Shape;73;p13"/>
          <p:cNvSpPr/>
          <p:nvPr/>
        </p:nvSpPr>
        <p:spPr>
          <a:xfrm>
            <a:off x="1783350" y="349248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{{cat2_card13}}</a:t>
            </a:r>
            <a:endParaRPr sz="800"/>
          </a:p>
        </p:txBody>
      </p:sp>
      <p:sp>
        <p:nvSpPr>
          <p:cNvPr id="74" name="Google Shape;74;p13"/>
          <p:cNvSpPr/>
          <p:nvPr/>
        </p:nvSpPr>
        <p:spPr>
          <a:xfrm>
            <a:off x="3009795" y="349248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{{cat2_card14}}</a:t>
            </a:r>
            <a:endParaRPr sz="800"/>
          </a:p>
        </p:txBody>
      </p:sp>
      <p:sp>
        <p:nvSpPr>
          <p:cNvPr id="75" name="Google Shape;75;p13"/>
          <p:cNvSpPr/>
          <p:nvPr/>
        </p:nvSpPr>
        <p:spPr>
          <a:xfrm>
            <a:off x="4236240" y="349248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{{cat2_card15}}</a:t>
            </a:r>
            <a:endParaRPr sz="800"/>
          </a:p>
        </p:txBody>
      </p:sp>
      <p:sp>
        <p:nvSpPr>
          <p:cNvPr id="76" name="Google Shape;76;p13"/>
          <p:cNvSpPr/>
          <p:nvPr/>
        </p:nvSpPr>
        <p:spPr>
          <a:xfrm>
            <a:off x="5462685" y="349248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{{cat2_card16}}</a:t>
            </a:r>
            <a:endParaRPr sz="800"/>
          </a:p>
        </p:txBody>
      </p:sp>
      <p:sp>
        <p:nvSpPr>
          <p:cNvPr id="77" name="Google Shape;77;p13"/>
          <p:cNvSpPr/>
          <p:nvPr/>
        </p:nvSpPr>
        <p:spPr>
          <a:xfrm>
            <a:off x="6689129" y="349248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{{cat2_card17}}</a:t>
            </a:r>
            <a:endParaRPr sz="800"/>
          </a:p>
        </p:txBody>
      </p:sp>
      <p:sp>
        <p:nvSpPr>
          <p:cNvPr id="78" name="Google Shape;78;p13"/>
          <p:cNvSpPr/>
          <p:nvPr/>
        </p:nvSpPr>
        <p:spPr>
          <a:xfrm>
            <a:off x="7915574" y="349248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{{cat2_card18}}</a:t>
            </a:r>
            <a:endParaRPr sz="800"/>
          </a:p>
        </p:txBody>
      </p:sp>
      <p:sp>
        <p:nvSpPr>
          <p:cNvPr id="79" name="Google Shape;79;p13"/>
          <p:cNvSpPr/>
          <p:nvPr/>
        </p:nvSpPr>
        <p:spPr>
          <a:xfrm>
            <a:off x="1783350" y="432511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{{cat2_card19}}</a:t>
            </a:r>
            <a:endParaRPr sz="800"/>
          </a:p>
        </p:txBody>
      </p:sp>
      <p:sp>
        <p:nvSpPr>
          <p:cNvPr id="80" name="Google Shape;80;p13"/>
          <p:cNvSpPr/>
          <p:nvPr/>
        </p:nvSpPr>
        <p:spPr>
          <a:xfrm>
            <a:off x="3009795" y="432511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{{cat2_card20}}</a:t>
            </a:r>
            <a:endParaRPr sz="800"/>
          </a:p>
        </p:txBody>
      </p:sp>
      <p:sp>
        <p:nvSpPr>
          <p:cNvPr id="81" name="Google Shape;81;p13"/>
          <p:cNvSpPr/>
          <p:nvPr/>
        </p:nvSpPr>
        <p:spPr>
          <a:xfrm>
            <a:off x="4236227" y="432511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{{cat2_card21}}</a:t>
            </a:r>
            <a:endParaRPr sz="800"/>
          </a:p>
        </p:txBody>
      </p:sp>
      <p:sp>
        <p:nvSpPr>
          <p:cNvPr id="82" name="Google Shape;82;p13"/>
          <p:cNvSpPr/>
          <p:nvPr/>
        </p:nvSpPr>
        <p:spPr>
          <a:xfrm>
            <a:off x="5462685" y="432511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{{cat2_card22}}</a:t>
            </a:r>
            <a:endParaRPr sz="800"/>
          </a:p>
        </p:txBody>
      </p:sp>
      <p:sp>
        <p:nvSpPr>
          <p:cNvPr id="83" name="Google Shape;83;p13"/>
          <p:cNvSpPr/>
          <p:nvPr/>
        </p:nvSpPr>
        <p:spPr>
          <a:xfrm>
            <a:off x="6689129" y="432511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{{cat2_card23}}</a:t>
            </a:r>
            <a:endParaRPr sz="800"/>
          </a:p>
        </p:txBody>
      </p:sp>
      <p:sp>
        <p:nvSpPr>
          <p:cNvPr id="84" name="Google Shape;84;p13"/>
          <p:cNvSpPr/>
          <p:nvPr/>
        </p:nvSpPr>
        <p:spPr>
          <a:xfrm>
            <a:off x="7915574" y="4325112"/>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{{cat2_card24}}</a:t>
            </a:r>
            <a:endParaRPr sz="800"/>
          </a:p>
        </p:txBody>
      </p:sp>
      <p:sp>
        <p:nvSpPr>
          <p:cNvPr id="85" name="Google Shape;85;p13"/>
          <p:cNvSpPr/>
          <p:nvPr/>
        </p:nvSpPr>
        <p:spPr>
          <a:xfrm>
            <a:off x="1783350"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3 Russia breaks Trump-brokered energy ceasefire - politico.eu</a:t>
            </a:r>
            <a:endParaRPr sz="800"/>
          </a:p>
        </p:txBody>
      </p:sp>
      <p:sp>
        <p:nvSpPr>
          <p:cNvPr id="86" name="Google Shape;86;p13"/>
          <p:cNvSpPr/>
          <p:nvPr/>
        </p:nvSpPr>
        <p:spPr>
          <a:xfrm>
            <a:off x="3009795"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4 Trump signs bill to end partial government shutdown, setting stage for next fight - AP News</a:t>
            </a:r>
            <a:endParaRPr sz="800"/>
          </a:p>
        </p:txBody>
      </p:sp>
      <p:sp>
        <p:nvSpPr>
          <p:cNvPr id="87" name="Google Shape;87;p13"/>
          <p:cNvSpPr/>
          <p:nvPr/>
        </p:nvSpPr>
        <p:spPr>
          <a:xfrm>
            <a:off x="4236240"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5 Trump and Xi discuss Iran in wide-ranging call as US presses China and others to break from Tehran - AP News</a:t>
            </a:r>
            <a:endParaRPr sz="800"/>
          </a:p>
        </p:txBody>
      </p:sp>
      <p:sp>
        <p:nvSpPr>
          <p:cNvPr id="88" name="Google Shape;88;p13"/>
          <p:cNvSpPr/>
          <p:nvPr/>
        </p:nvSpPr>
        <p:spPr>
          <a:xfrm>
            <a:off x="5462685"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6 U.S.-Iran talks planned for Friday in Oman after U.S. shoots down Iranian drone - CBS News</a:t>
            </a:r>
            <a:endParaRPr sz="800"/>
          </a:p>
        </p:txBody>
      </p:sp>
      <p:sp>
        <p:nvSpPr>
          <p:cNvPr id="89" name="Google Shape;89;p13"/>
          <p:cNvSpPr/>
          <p:nvPr/>
        </p:nvSpPr>
        <p:spPr>
          <a:xfrm>
            <a:off x="6689129"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7 The last US-Russian nuclear pact is about to expire, ending a half-century of arms control - AP News</a:t>
            </a:r>
            <a:endParaRPr sz="800"/>
          </a:p>
        </p:txBody>
      </p:sp>
      <p:sp>
        <p:nvSpPr>
          <p:cNvPr id="90" name="Google Shape;90;p13"/>
          <p:cNvSpPr/>
          <p:nvPr/>
        </p:nvSpPr>
        <p:spPr>
          <a:xfrm>
            <a:off x="7915574"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{{cat1_card6}}</a:t>
            </a:r>
            <a:endParaRPr sz="800"/>
          </a:p>
        </p:txBody>
      </p:sp>
      <p:sp>
        <p:nvSpPr>
          <p:cNvPr id="91" name="Google Shape;91;p13"/>
          <p:cNvSpPr/>
          <p:nvPr/>
        </p:nvSpPr>
        <p:spPr>
          <a:xfrm>
            <a:off x="1785900" y="94796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{{cat1_card7}}</a:t>
            </a:r>
            <a:endParaRPr sz="800"/>
          </a:p>
        </p:txBody>
      </p:sp>
      <p:sp>
        <p:nvSpPr>
          <p:cNvPr id="92" name="Google Shape;92;p13"/>
          <p:cNvSpPr/>
          <p:nvPr/>
        </p:nvSpPr>
        <p:spPr>
          <a:xfrm>
            <a:off x="3012345" y="94796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{{cat1_card8}}</a:t>
            </a:r>
            <a:endParaRPr sz="800"/>
          </a:p>
        </p:txBody>
      </p:sp>
      <p:sp>
        <p:nvSpPr>
          <p:cNvPr id="93" name="Google Shape;93;p13"/>
          <p:cNvSpPr/>
          <p:nvPr/>
        </p:nvSpPr>
        <p:spPr>
          <a:xfrm>
            <a:off x="4238790" y="94796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{{cat1_card9}}</a:t>
            </a:r>
            <a:endParaRPr sz="800"/>
          </a:p>
        </p:txBody>
      </p:sp>
      <p:sp>
        <p:nvSpPr>
          <p:cNvPr id="94" name="Google Shape;94;p13"/>
          <p:cNvSpPr/>
          <p:nvPr/>
        </p:nvSpPr>
        <p:spPr>
          <a:xfrm>
            <a:off x="5465235" y="94796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{{cat1_card10}}</a:t>
            </a:r>
            <a:endParaRPr sz="800"/>
          </a:p>
        </p:txBody>
      </p:sp>
      <p:sp>
        <p:nvSpPr>
          <p:cNvPr id="95" name="Google Shape;95;p13"/>
          <p:cNvSpPr/>
          <p:nvPr/>
        </p:nvSpPr>
        <p:spPr>
          <a:xfrm>
            <a:off x="6691679" y="94796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{{cat1_card11}}</a:t>
            </a:r>
            <a:endParaRPr sz="800"/>
          </a:p>
        </p:txBody>
      </p:sp>
      <p:sp>
        <p:nvSpPr>
          <p:cNvPr id="96" name="Google Shape;96;p13"/>
          <p:cNvSpPr/>
          <p:nvPr/>
        </p:nvSpPr>
        <p:spPr>
          <a:xfrm>
            <a:off x="7918124" y="94796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{{cat1_card12}}</a:t>
            </a:r>
            <a:endParaRPr sz="800"/>
          </a:p>
        </p:txBody>
      </p:sp>
      <p:sp>
        <p:nvSpPr>
          <p:cNvPr id="97" name="Google Shape;97;p13"/>
          <p:cNvSpPr/>
          <p:nvPr/>
        </p:nvSpPr>
        <p:spPr>
          <a:xfrm>
            <a:off x="9204475" y="954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{{cat1_card13}}</a:t>
            </a:r>
            <a:endParaRPr sz="800"/>
          </a:p>
        </p:txBody>
      </p:sp>
      <p:sp>
        <p:nvSpPr>
          <p:cNvPr id="98" name="Google Shape;98;p13"/>
          <p:cNvSpPr/>
          <p:nvPr/>
        </p:nvSpPr>
        <p:spPr>
          <a:xfrm>
            <a:off x="9356875" y="2478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{{cat1_card14}}</a:t>
            </a:r>
            <a:endParaRPr sz="800"/>
          </a:p>
        </p:txBody>
      </p:sp>
      <p:sp>
        <p:nvSpPr>
          <p:cNvPr id="99" name="Google Shape;99;p13"/>
          <p:cNvSpPr/>
          <p:nvPr/>
        </p:nvSpPr>
        <p:spPr>
          <a:xfrm>
            <a:off x="9509275" y="4002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{{cat1_card15}}</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3" name="Shape 103"/>
        <p:cNvGrpSpPr/>
        <p:nvPr/>
      </p:nvGrpSpPr>
      <p:grpSpPr>
        <a:xfrm>
          <a:off x="0" y="0"/>
          <a:ext cx="0" cy="0"/>
          <a:chOff x="0" y="0"/>
          <a:chExt cx="0" cy="0"/>
        </a:xfrm>
      </p:grpSpPr>
      <p:graphicFrame>
        <p:nvGraphicFramePr>
          <p:cNvPr id="104" name="Google Shape;104;p14"/>
          <p:cNvGraphicFramePr/>
          <p:nvPr/>
        </p:nvGraphicFramePr>
        <p:xfrm>
          <a:off x="0" y="-50"/>
          <a:ext cx="3000000" cy="3000000"/>
        </p:xfrm>
        <a:graphic>
          <a:graphicData uri="http://schemas.openxmlformats.org/drawingml/2006/table">
            <a:tbl>
              <a:tblPr>
                <a:noFill/>
                <a:tableStyleId>{ED8C1FB8-AA7E-4C08-AC4C-1C0CE4C4A1BA}</a:tableStyleId>
              </a:tblPr>
              <a:tblGrid>
                <a:gridCol w="1727200"/>
                <a:gridCol w="7416800"/>
              </a:tblGrid>
              <a:tr h="866850">
                <a:tc>
                  <a:txBody>
                    <a:bodyPr/>
                    <a:lstStyle/>
                    <a:p>
                      <a:pPr indent="0" lvl="0" marL="0" rtl="0" algn="l">
                        <a:spcBef>
                          <a:spcPts val="0"/>
                        </a:spcBef>
                        <a:spcAft>
                          <a:spcPts val="0"/>
                        </a:spcAft>
                        <a:buNone/>
                      </a:pPr>
                      <a:r>
                        <a:rPr lang="en" sz="1500">
                          <a:solidFill>
                            <a:schemeClr val="lt1"/>
                          </a:solidFill>
                        </a:rPr>
                        <a:t>Left is losing it</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597500">
                <a:tc>
                  <a:txBody>
                    <a:bodyPr/>
                    <a:lstStyle/>
                    <a:p>
                      <a:pPr indent="0" lvl="0" marL="0" rtl="0" algn="l">
                        <a:spcBef>
                          <a:spcPts val="0"/>
                        </a:spcBef>
                        <a:spcAft>
                          <a:spcPts val="0"/>
                        </a:spcAft>
                        <a:buClr>
                          <a:schemeClr val="dk1"/>
                        </a:buClr>
                        <a:buSzPts val="1100"/>
                        <a:buFont typeface="Arial"/>
                        <a:buNone/>
                      </a:pPr>
                      <a:r>
                        <a:rPr lang="en" sz="1500">
                          <a:solidFill>
                            <a:schemeClr val="lt1"/>
                          </a:solidFill>
                        </a:rPr>
                        <a:t>Ukraine</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91300">
                <a:tc>
                  <a:txBody>
                    <a:bodyPr/>
                    <a:lstStyle/>
                    <a:p>
                      <a:pPr indent="0" lvl="0" marL="0" rtl="0" algn="l">
                        <a:spcBef>
                          <a:spcPts val="0"/>
                        </a:spcBef>
                        <a:spcAft>
                          <a:spcPts val="0"/>
                        </a:spcAft>
                        <a:buClr>
                          <a:schemeClr val="dk1"/>
                        </a:buClr>
                        <a:buSzPts val="1100"/>
                        <a:buFont typeface="Arial"/>
                        <a:buNone/>
                      </a:pPr>
                      <a:r>
                        <a:rPr lang="en" sz="1500">
                          <a:solidFill>
                            <a:schemeClr val="lt1"/>
                          </a:solidFill>
                        </a:rPr>
                        <a:t>Гадание на кофе</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91300">
                <a:tc>
                  <a:txBody>
                    <a:bodyPr/>
                    <a:lstStyle/>
                    <a:p>
                      <a:pPr indent="0" lvl="0" marL="0" rtl="0" algn="l">
                        <a:spcBef>
                          <a:spcPts val="0"/>
                        </a:spcBef>
                        <a:spcAft>
                          <a:spcPts val="0"/>
                        </a:spcAft>
                        <a:buNone/>
                      </a:pPr>
                      <a:r>
                        <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105" name="Google Shape;105;p14"/>
          <p:cNvSpPr/>
          <p:nvPr/>
        </p:nvSpPr>
        <p:spPr>
          <a:xfrm>
            <a:off x="1787775" y="3533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{{cat5_card1}}</a:t>
            </a:r>
            <a:endParaRPr sz="800"/>
          </a:p>
        </p:txBody>
      </p:sp>
      <p:sp>
        <p:nvSpPr>
          <p:cNvPr id="106" name="Google Shape;106;p14"/>
          <p:cNvSpPr/>
          <p:nvPr/>
        </p:nvSpPr>
        <p:spPr>
          <a:xfrm>
            <a:off x="3014220" y="3533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{{cat5_card2}}</a:t>
            </a:r>
            <a:endParaRPr sz="800"/>
          </a:p>
        </p:txBody>
      </p:sp>
      <p:sp>
        <p:nvSpPr>
          <p:cNvPr id="107" name="Google Shape;107;p14"/>
          <p:cNvSpPr/>
          <p:nvPr/>
        </p:nvSpPr>
        <p:spPr>
          <a:xfrm>
            <a:off x="4240665" y="3533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{{cat5_card3}}</a:t>
            </a:r>
            <a:endParaRPr sz="800"/>
          </a:p>
        </p:txBody>
      </p:sp>
      <p:sp>
        <p:nvSpPr>
          <p:cNvPr id="108" name="Google Shape;108;p14"/>
          <p:cNvSpPr/>
          <p:nvPr/>
        </p:nvSpPr>
        <p:spPr>
          <a:xfrm>
            <a:off x="5467110" y="3533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{{cat5_card4}}</a:t>
            </a:r>
            <a:endParaRPr sz="800"/>
          </a:p>
        </p:txBody>
      </p:sp>
      <p:sp>
        <p:nvSpPr>
          <p:cNvPr id="109" name="Google Shape;109;p14"/>
          <p:cNvSpPr/>
          <p:nvPr/>
        </p:nvSpPr>
        <p:spPr>
          <a:xfrm>
            <a:off x="6693554" y="3533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{{cat5_card5}}</a:t>
            </a:r>
            <a:endParaRPr sz="800"/>
          </a:p>
        </p:txBody>
      </p:sp>
      <p:sp>
        <p:nvSpPr>
          <p:cNvPr id="110" name="Google Shape;110;p14"/>
          <p:cNvSpPr/>
          <p:nvPr/>
        </p:nvSpPr>
        <p:spPr>
          <a:xfrm>
            <a:off x="7919999" y="3533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{{cat5_card6}}</a:t>
            </a:r>
            <a:endParaRPr sz="800"/>
          </a:p>
        </p:txBody>
      </p:sp>
      <p:sp>
        <p:nvSpPr>
          <p:cNvPr id="111" name="Google Shape;111;p14"/>
          <p:cNvSpPr/>
          <p:nvPr/>
        </p:nvSpPr>
        <p:spPr>
          <a:xfrm>
            <a:off x="1787775"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20 Russia and Ukraine envoys meet in Abu Dhabi for 2 days of US-brokered talks - AP News</a:t>
            </a:r>
            <a:endParaRPr sz="800"/>
          </a:p>
        </p:txBody>
      </p:sp>
      <p:sp>
        <p:nvSpPr>
          <p:cNvPr id="112" name="Google Shape;112;p14"/>
          <p:cNvSpPr/>
          <p:nvPr/>
        </p:nvSpPr>
        <p:spPr>
          <a:xfrm>
            <a:off x="3014220"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{{cat4_card2}}</a:t>
            </a:r>
            <a:endParaRPr sz="800"/>
          </a:p>
        </p:txBody>
      </p:sp>
      <p:sp>
        <p:nvSpPr>
          <p:cNvPr id="113" name="Google Shape;113;p14"/>
          <p:cNvSpPr/>
          <p:nvPr/>
        </p:nvSpPr>
        <p:spPr>
          <a:xfrm>
            <a:off x="4240665"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{{cat4_card3}}</a:t>
            </a:r>
            <a:endParaRPr sz="800"/>
          </a:p>
        </p:txBody>
      </p:sp>
      <p:sp>
        <p:nvSpPr>
          <p:cNvPr id="114" name="Google Shape;114;p14"/>
          <p:cNvSpPr/>
          <p:nvPr/>
        </p:nvSpPr>
        <p:spPr>
          <a:xfrm>
            <a:off x="5467110"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{{cat4_card4}}</a:t>
            </a:r>
            <a:endParaRPr sz="800"/>
          </a:p>
        </p:txBody>
      </p:sp>
      <p:sp>
        <p:nvSpPr>
          <p:cNvPr id="115" name="Google Shape;115;p14"/>
          <p:cNvSpPr/>
          <p:nvPr/>
        </p:nvSpPr>
        <p:spPr>
          <a:xfrm>
            <a:off x="6693554"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{{cat4_card5}}</a:t>
            </a:r>
            <a:endParaRPr sz="800"/>
          </a:p>
        </p:txBody>
      </p:sp>
      <p:sp>
        <p:nvSpPr>
          <p:cNvPr id="116" name="Google Shape;116;p14"/>
          <p:cNvSpPr/>
          <p:nvPr/>
        </p:nvSpPr>
        <p:spPr>
          <a:xfrm>
            <a:off x="7919999"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{{cat4_card6}}</a:t>
            </a:r>
            <a:endParaRPr sz="800"/>
          </a:p>
        </p:txBody>
      </p:sp>
      <p:sp>
        <p:nvSpPr>
          <p:cNvPr id="117" name="Google Shape;117;p14"/>
          <p:cNvSpPr/>
          <p:nvPr/>
        </p:nvSpPr>
        <p:spPr>
          <a:xfrm>
            <a:off x="1787775" y="176219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{{cat4_card7}}</a:t>
            </a:r>
            <a:endParaRPr sz="800"/>
          </a:p>
        </p:txBody>
      </p:sp>
      <p:sp>
        <p:nvSpPr>
          <p:cNvPr id="118" name="Google Shape;118;p14"/>
          <p:cNvSpPr/>
          <p:nvPr/>
        </p:nvSpPr>
        <p:spPr>
          <a:xfrm>
            <a:off x="3014220" y="176219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{{cat4_card8}}</a:t>
            </a:r>
            <a:endParaRPr sz="800"/>
          </a:p>
        </p:txBody>
      </p:sp>
      <p:sp>
        <p:nvSpPr>
          <p:cNvPr id="119" name="Google Shape;119;p14"/>
          <p:cNvSpPr/>
          <p:nvPr/>
        </p:nvSpPr>
        <p:spPr>
          <a:xfrm>
            <a:off x="4240665" y="176219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{{cat4_card9}}</a:t>
            </a:r>
            <a:endParaRPr sz="800"/>
          </a:p>
        </p:txBody>
      </p:sp>
      <p:sp>
        <p:nvSpPr>
          <p:cNvPr id="120" name="Google Shape;120;p14"/>
          <p:cNvSpPr/>
          <p:nvPr/>
        </p:nvSpPr>
        <p:spPr>
          <a:xfrm>
            <a:off x="5467110" y="176219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{{cat4_card10}}</a:t>
            </a:r>
            <a:endParaRPr sz="800"/>
          </a:p>
        </p:txBody>
      </p:sp>
      <p:sp>
        <p:nvSpPr>
          <p:cNvPr id="121" name="Google Shape;121;p14"/>
          <p:cNvSpPr/>
          <p:nvPr/>
        </p:nvSpPr>
        <p:spPr>
          <a:xfrm>
            <a:off x="6693554" y="176219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{{cat4_card11}}</a:t>
            </a:r>
            <a:endParaRPr sz="800"/>
          </a:p>
        </p:txBody>
      </p:sp>
      <p:sp>
        <p:nvSpPr>
          <p:cNvPr id="122" name="Google Shape;122;p14"/>
          <p:cNvSpPr/>
          <p:nvPr/>
        </p:nvSpPr>
        <p:spPr>
          <a:xfrm>
            <a:off x="7919999" y="176219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{{cat4_card12}}</a:t>
            </a:r>
            <a:endParaRPr sz="800"/>
          </a:p>
        </p:txBody>
      </p:sp>
      <p:sp>
        <p:nvSpPr>
          <p:cNvPr id="123" name="Google Shape;123;p14"/>
          <p:cNvSpPr/>
          <p:nvPr/>
        </p:nvSpPr>
        <p:spPr>
          <a:xfrm>
            <a:off x="1787775" y="259993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{{cat4_card13}}</a:t>
            </a:r>
            <a:endParaRPr sz="800"/>
          </a:p>
        </p:txBody>
      </p:sp>
      <p:sp>
        <p:nvSpPr>
          <p:cNvPr id="124" name="Google Shape;124;p14"/>
          <p:cNvSpPr/>
          <p:nvPr/>
        </p:nvSpPr>
        <p:spPr>
          <a:xfrm>
            <a:off x="3014220" y="259993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{{cat4_card14}}</a:t>
            </a:r>
            <a:endParaRPr sz="800"/>
          </a:p>
        </p:txBody>
      </p:sp>
      <p:sp>
        <p:nvSpPr>
          <p:cNvPr id="125" name="Google Shape;125;p14"/>
          <p:cNvSpPr/>
          <p:nvPr/>
        </p:nvSpPr>
        <p:spPr>
          <a:xfrm>
            <a:off x="4240665" y="259993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{{cat4_card15}}</a:t>
            </a:r>
            <a:endParaRPr sz="800"/>
          </a:p>
        </p:txBody>
      </p:sp>
      <p:sp>
        <p:nvSpPr>
          <p:cNvPr id="126" name="Google Shape;126;p14"/>
          <p:cNvSpPr/>
          <p:nvPr/>
        </p:nvSpPr>
        <p:spPr>
          <a:xfrm>
            <a:off x="5467110" y="259993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{{cat4_card16}}</a:t>
            </a:r>
            <a:endParaRPr sz="800"/>
          </a:p>
        </p:txBody>
      </p:sp>
      <p:sp>
        <p:nvSpPr>
          <p:cNvPr id="127" name="Google Shape;127;p14"/>
          <p:cNvSpPr/>
          <p:nvPr/>
        </p:nvSpPr>
        <p:spPr>
          <a:xfrm>
            <a:off x="6693554" y="259993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{{cat4_card17}}</a:t>
            </a:r>
            <a:endParaRPr sz="800"/>
          </a:p>
        </p:txBody>
      </p:sp>
      <p:sp>
        <p:nvSpPr>
          <p:cNvPr id="128" name="Google Shape;128;p14"/>
          <p:cNvSpPr/>
          <p:nvPr/>
        </p:nvSpPr>
        <p:spPr>
          <a:xfrm>
            <a:off x="7919999" y="259993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{{cat4_card18}}</a:t>
            </a:r>
            <a:endParaRPr sz="800"/>
          </a:p>
        </p:txBody>
      </p:sp>
      <p:sp>
        <p:nvSpPr>
          <p:cNvPr id="129" name="Google Shape;129;p14"/>
          <p:cNvSpPr/>
          <p:nvPr/>
        </p:nvSpPr>
        <p:spPr>
          <a:xfrm>
            <a:off x="9204875" y="1336200"/>
            <a:ext cx="1174200" cy="774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{{cat4_card19}}</a:t>
            </a:r>
            <a:endParaRPr sz="800"/>
          </a:p>
        </p:txBody>
      </p:sp>
      <p:sp>
        <p:nvSpPr>
          <p:cNvPr id="130" name="Google Shape;130;p14"/>
          <p:cNvSpPr/>
          <p:nvPr/>
        </p:nvSpPr>
        <p:spPr>
          <a:xfrm>
            <a:off x="9357275" y="1528264"/>
            <a:ext cx="1174200" cy="774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{{cat4_card20}}</a:t>
            </a:r>
            <a:endParaRPr sz="800"/>
          </a:p>
        </p:txBody>
      </p:sp>
      <p:sp>
        <p:nvSpPr>
          <p:cNvPr id="131" name="Google Shape;131;p14"/>
          <p:cNvSpPr/>
          <p:nvPr/>
        </p:nvSpPr>
        <p:spPr>
          <a:xfrm>
            <a:off x="9509675" y="1720328"/>
            <a:ext cx="1174200" cy="774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{{cat4_card21}}</a:t>
            </a:r>
            <a:endParaRPr sz="800"/>
          </a:p>
        </p:txBody>
      </p:sp>
      <p:sp>
        <p:nvSpPr>
          <p:cNvPr id="132" name="Google Shape;132;p14"/>
          <p:cNvSpPr/>
          <p:nvPr/>
        </p:nvSpPr>
        <p:spPr>
          <a:xfrm>
            <a:off x="9662075" y="1912392"/>
            <a:ext cx="1174200" cy="774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{{cat4_card22}}</a:t>
            </a:r>
            <a:endParaRPr sz="800"/>
          </a:p>
        </p:txBody>
      </p:sp>
      <p:sp>
        <p:nvSpPr>
          <p:cNvPr id="133" name="Google Shape;133;p14"/>
          <p:cNvSpPr/>
          <p:nvPr/>
        </p:nvSpPr>
        <p:spPr>
          <a:xfrm>
            <a:off x="9814475" y="2104456"/>
            <a:ext cx="1174200" cy="774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{{cat4_card23}}</a:t>
            </a:r>
            <a:endParaRPr sz="800"/>
          </a:p>
        </p:txBody>
      </p:sp>
      <p:sp>
        <p:nvSpPr>
          <p:cNvPr id="134" name="Google Shape;134;p14"/>
          <p:cNvSpPr/>
          <p:nvPr/>
        </p:nvSpPr>
        <p:spPr>
          <a:xfrm>
            <a:off x="9966875" y="2296520"/>
            <a:ext cx="1174200" cy="774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{{cat4_card24}}</a:t>
            </a:r>
            <a:endParaRPr sz="800"/>
          </a:p>
        </p:txBody>
      </p:sp>
      <p:sp>
        <p:nvSpPr>
          <p:cNvPr id="135" name="Google Shape;135;p14"/>
          <p:cNvSpPr/>
          <p:nvPr/>
        </p:nvSpPr>
        <p:spPr>
          <a:xfrm>
            <a:off x="9204875" y="33948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{{cat5_card7}}</a:t>
            </a:r>
            <a:endParaRPr sz="800"/>
          </a:p>
        </p:txBody>
      </p:sp>
      <p:sp>
        <p:nvSpPr>
          <p:cNvPr id="136" name="Google Shape;136;p14"/>
          <p:cNvSpPr/>
          <p:nvPr/>
        </p:nvSpPr>
        <p:spPr>
          <a:xfrm>
            <a:off x="9357275" y="358539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{{cat5_card8}}</a:t>
            </a:r>
            <a:endParaRPr sz="800"/>
          </a:p>
        </p:txBody>
      </p:sp>
      <p:sp>
        <p:nvSpPr>
          <p:cNvPr id="137" name="Google Shape;137;p14"/>
          <p:cNvSpPr/>
          <p:nvPr/>
        </p:nvSpPr>
        <p:spPr>
          <a:xfrm>
            <a:off x="9509675" y="3775958"/>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{{cat5_card9}}</a:t>
            </a:r>
            <a:endParaRPr sz="800"/>
          </a:p>
        </p:txBody>
      </p:sp>
      <p:sp>
        <p:nvSpPr>
          <p:cNvPr id="138" name="Google Shape;138;p14"/>
          <p:cNvSpPr/>
          <p:nvPr/>
        </p:nvSpPr>
        <p:spPr>
          <a:xfrm>
            <a:off x="1787775"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18 Comedian defiant as Minnesota venue cancels six sold-out shows after he mocked Renee Good - Yahoo</a:t>
            </a:r>
            <a:endParaRPr sz="800"/>
          </a:p>
        </p:txBody>
      </p:sp>
      <p:sp>
        <p:nvSpPr>
          <p:cNvPr id="139" name="Google Shape;139;p14"/>
          <p:cNvSpPr/>
          <p:nvPr/>
        </p:nvSpPr>
        <p:spPr>
          <a:xfrm>
            <a:off x="3014220"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19 Solicitor general backs Catholic preschools at Supreme Court - Yahoo</a:t>
            </a:r>
            <a:endParaRPr sz="800"/>
          </a:p>
        </p:txBody>
      </p:sp>
      <p:sp>
        <p:nvSpPr>
          <p:cNvPr id="140" name="Google Shape;140;p14"/>
          <p:cNvSpPr/>
          <p:nvPr/>
        </p:nvSpPr>
        <p:spPr>
          <a:xfrm>
            <a:off x="4240665"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{{cat3_card3}}</a:t>
            </a:r>
            <a:endParaRPr sz="800"/>
          </a:p>
        </p:txBody>
      </p:sp>
      <p:sp>
        <p:nvSpPr>
          <p:cNvPr id="141" name="Google Shape;141;p14"/>
          <p:cNvSpPr/>
          <p:nvPr/>
        </p:nvSpPr>
        <p:spPr>
          <a:xfrm>
            <a:off x="5467110"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{{cat3_card4}}</a:t>
            </a:r>
            <a:endParaRPr sz="800"/>
          </a:p>
        </p:txBody>
      </p:sp>
      <p:sp>
        <p:nvSpPr>
          <p:cNvPr id="142" name="Google Shape;142;p14"/>
          <p:cNvSpPr/>
          <p:nvPr/>
        </p:nvSpPr>
        <p:spPr>
          <a:xfrm>
            <a:off x="6693554"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{{cat3_card5}}</a:t>
            </a:r>
            <a:endParaRPr sz="800"/>
          </a:p>
        </p:txBody>
      </p:sp>
      <p:sp>
        <p:nvSpPr>
          <p:cNvPr id="143" name="Google Shape;143;p14"/>
          <p:cNvSpPr/>
          <p:nvPr/>
        </p:nvSpPr>
        <p:spPr>
          <a:xfrm>
            <a:off x="7919999"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{{cat3_card6}}</a:t>
            </a:r>
            <a:endParaRPr sz="800"/>
          </a:p>
        </p:txBody>
      </p:sp>
      <p:sp>
        <p:nvSpPr>
          <p:cNvPr id="144" name="Google Shape;144;p14"/>
          <p:cNvSpPr/>
          <p:nvPr/>
        </p:nvSpPr>
        <p:spPr>
          <a:xfrm>
            <a:off x="9204875" y="-5096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{{cat3_card7}}</a:t>
            </a:r>
            <a:endParaRPr sz="800"/>
          </a:p>
        </p:txBody>
      </p:sp>
      <p:sp>
        <p:nvSpPr>
          <p:cNvPr id="145" name="Google Shape;145;p14"/>
          <p:cNvSpPr/>
          <p:nvPr/>
        </p:nvSpPr>
        <p:spPr>
          <a:xfrm>
            <a:off x="9357275" y="-314204"/>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{{cat3_card8}}</a:t>
            </a:r>
            <a:endParaRPr sz="800"/>
          </a:p>
        </p:txBody>
      </p:sp>
      <p:sp>
        <p:nvSpPr>
          <p:cNvPr id="146" name="Google Shape;146;p14"/>
          <p:cNvSpPr/>
          <p:nvPr/>
        </p:nvSpPr>
        <p:spPr>
          <a:xfrm>
            <a:off x="9509675" y="-118808"/>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{{cat3_card9}}</a:t>
            </a:r>
            <a:endParaRPr sz="800"/>
          </a:p>
        </p:txBody>
      </p:sp>
      <p:sp>
        <p:nvSpPr>
          <p:cNvPr id="147" name="Google Shape;147;p14"/>
          <p:cNvSpPr/>
          <p:nvPr/>
        </p:nvSpPr>
        <p:spPr>
          <a:xfrm>
            <a:off x="9662075" y="76588"/>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{{cat3_card10}}</a:t>
            </a:r>
            <a:endParaRPr sz="800"/>
          </a:p>
        </p:txBody>
      </p:sp>
      <p:sp>
        <p:nvSpPr>
          <p:cNvPr id="148" name="Google Shape;148;p14"/>
          <p:cNvSpPr/>
          <p:nvPr/>
        </p:nvSpPr>
        <p:spPr>
          <a:xfrm>
            <a:off x="9814475" y="271984"/>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{{cat3_card11}}</a:t>
            </a:r>
            <a:endParaRPr sz="800"/>
          </a:p>
        </p:txBody>
      </p:sp>
      <p:sp>
        <p:nvSpPr>
          <p:cNvPr id="149" name="Google Shape;149;p14"/>
          <p:cNvSpPr/>
          <p:nvPr/>
        </p:nvSpPr>
        <p:spPr>
          <a:xfrm>
            <a:off x="9966875" y="467381"/>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{{cat3_card12}}</a:t>
            </a:r>
            <a:endParaRPr sz="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 name="Shape 153"/>
        <p:cNvGrpSpPr/>
        <p:nvPr/>
      </p:nvGrpSpPr>
      <p:grpSpPr>
        <a:xfrm>
          <a:off x="0" y="0"/>
          <a:ext cx="0" cy="0"/>
          <a:chOff x="0" y="0"/>
          <a:chExt cx="0" cy="0"/>
        </a:xfrm>
      </p:grpSpPr>
      <p:graphicFrame>
        <p:nvGraphicFramePr>
          <p:cNvPr id="154" name="Google Shape;154;p15"/>
          <p:cNvGraphicFramePr/>
          <p:nvPr/>
        </p:nvGraphicFramePr>
        <p:xfrm>
          <a:off x="0" y="-50"/>
          <a:ext cx="3000000" cy="3000000"/>
        </p:xfrm>
        <a:graphic>
          <a:graphicData uri="http://schemas.openxmlformats.org/drawingml/2006/table">
            <a:tbl>
              <a:tblPr>
                <a:noFill/>
                <a:tableStyleId>{ED8C1FB8-AA7E-4C08-AC4C-1C0CE4C4A1BA}</a:tableStyleId>
              </a:tblPr>
              <a:tblGrid>
                <a:gridCol w="1727200"/>
                <a:gridCol w="7416800"/>
              </a:tblGrid>
              <a:tr h="2568025">
                <a:tc>
                  <a:txBody>
                    <a:bodyPr/>
                    <a:lstStyle/>
                    <a:p>
                      <a:pPr indent="0" lvl="0" marL="0" rtl="0" algn="l">
                        <a:spcBef>
                          <a:spcPts val="0"/>
                        </a:spcBef>
                        <a:spcAft>
                          <a:spcPts val="0"/>
                        </a:spcAft>
                        <a:buClr>
                          <a:schemeClr val="dk1"/>
                        </a:buClr>
                        <a:buSzPts val="1100"/>
                        <a:buFont typeface="Arial"/>
                        <a:buNone/>
                      </a:pPr>
                      <a:r>
                        <a:rPr lang="en" sz="1500">
                          <a:solidFill>
                            <a:schemeClr val="lt1"/>
                          </a:solidFill>
                        </a:rPr>
                        <a:t>World news</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56975">
                <a:tc>
                  <a:txBody>
                    <a:bodyPr/>
                    <a:lstStyle/>
                    <a:p>
                      <a:pPr indent="0" lvl="0" marL="0" rtl="0" algn="l">
                        <a:spcBef>
                          <a:spcPts val="0"/>
                        </a:spcBef>
                        <a:spcAft>
                          <a:spcPts val="0"/>
                        </a:spcAft>
                        <a:buNone/>
                      </a:pPr>
                      <a:r>
                        <a:rPr lang="en" sz="1500">
                          <a:solidFill>
                            <a:schemeClr val="lt1"/>
                          </a:solidFill>
                        </a:rPr>
                        <a:t>Маразм крепчал</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56975">
                <a:tc>
                  <a:txBody>
                    <a:bodyPr/>
                    <a:lstStyle/>
                    <a:p>
                      <a:pPr indent="0" lvl="0" marL="0" rtl="0" algn="l">
                        <a:spcBef>
                          <a:spcPts val="0"/>
                        </a:spcBef>
                        <a:spcAft>
                          <a:spcPts val="0"/>
                        </a:spcAft>
                        <a:buNone/>
                      </a:pPr>
                      <a:r>
                        <a:rPr lang="en" sz="1500">
                          <a:solidFill>
                            <a:schemeClr val="lt1"/>
                          </a:solidFill>
                        </a:rPr>
                        <a:t>Tech News</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56975">
                <a:tc>
                  <a:txBody>
                    <a:bodyPr/>
                    <a:lstStyle/>
                    <a:p>
                      <a:pPr indent="0" lvl="0" marL="0" rtl="0" algn="l">
                        <a:spcBef>
                          <a:spcPts val="0"/>
                        </a:spcBef>
                        <a:spcAft>
                          <a:spcPts val="0"/>
                        </a:spcAft>
                        <a:buNone/>
                      </a:pPr>
                      <a:r>
                        <a:rPr lang="en" sz="1500">
                          <a:solidFill>
                            <a:schemeClr val="lt1"/>
                          </a:solidFill>
                        </a:rPr>
                        <a:t>Crazy news</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155" name="Google Shape;155;p15"/>
          <p:cNvSpPr/>
          <p:nvPr/>
        </p:nvSpPr>
        <p:spPr>
          <a:xfrm>
            <a:off x="1778250" y="43405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{{cat9_card1}}</a:t>
            </a:r>
            <a:endParaRPr sz="800"/>
          </a:p>
        </p:txBody>
      </p:sp>
      <p:sp>
        <p:nvSpPr>
          <p:cNvPr id="156" name="Google Shape;156;p15"/>
          <p:cNvSpPr/>
          <p:nvPr/>
        </p:nvSpPr>
        <p:spPr>
          <a:xfrm>
            <a:off x="3004695" y="43405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{{cat9_card2}}</a:t>
            </a:r>
            <a:endParaRPr sz="800"/>
          </a:p>
        </p:txBody>
      </p:sp>
      <p:sp>
        <p:nvSpPr>
          <p:cNvPr id="157" name="Google Shape;157;p15"/>
          <p:cNvSpPr/>
          <p:nvPr/>
        </p:nvSpPr>
        <p:spPr>
          <a:xfrm>
            <a:off x="4231140" y="43405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{{cat9_card3}}</a:t>
            </a:r>
            <a:endParaRPr sz="800"/>
          </a:p>
        </p:txBody>
      </p:sp>
      <p:sp>
        <p:nvSpPr>
          <p:cNvPr id="158" name="Google Shape;158;p15"/>
          <p:cNvSpPr/>
          <p:nvPr/>
        </p:nvSpPr>
        <p:spPr>
          <a:xfrm>
            <a:off x="5457585" y="43405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{{cat9_card4}}</a:t>
            </a:r>
            <a:endParaRPr sz="800"/>
          </a:p>
        </p:txBody>
      </p:sp>
      <p:sp>
        <p:nvSpPr>
          <p:cNvPr id="159" name="Google Shape;159;p15"/>
          <p:cNvSpPr/>
          <p:nvPr/>
        </p:nvSpPr>
        <p:spPr>
          <a:xfrm>
            <a:off x="6684029" y="43405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{{cat9_card5}}</a:t>
            </a:r>
            <a:endParaRPr sz="800"/>
          </a:p>
        </p:txBody>
      </p:sp>
      <p:sp>
        <p:nvSpPr>
          <p:cNvPr id="160" name="Google Shape;160;p15"/>
          <p:cNvSpPr/>
          <p:nvPr/>
        </p:nvSpPr>
        <p:spPr>
          <a:xfrm>
            <a:off x="7910474" y="43405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{{cat9_card6}}</a:t>
            </a:r>
            <a:endParaRPr sz="800"/>
          </a:p>
        </p:txBody>
      </p:sp>
      <p:sp>
        <p:nvSpPr>
          <p:cNvPr id="161" name="Google Shape;161;p15"/>
          <p:cNvSpPr/>
          <p:nvPr/>
        </p:nvSpPr>
        <p:spPr>
          <a:xfrm>
            <a:off x="1778250" y="3476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{{cat8_card1}}</a:t>
            </a:r>
            <a:endParaRPr sz="800"/>
          </a:p>
        </p:txBody>
      </p:sp>
      <p:sp>
        <p:nvSpPr>
          <p:cNvPr id="162" name="Google Shape;162;p15"/>
          <p:cNvSpPr/>
          <p:nvPr/>
        </p:nvSpPr>
        <p:spPr>
          <a:xfrm>
            <a:off x="3004695" y="3476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{{cat8_card2}}</a:t>
            </a:r>
            <a:endParaRPr sz="800"/>
          </a:p>
        </p:txBody>
      </p:sp>
      <p:sp>
        <p:nvSpPr>
          <p:cNvPr id="163" name="Google Shape;163;p15"/>
          <p:cNvSpPr/>
          <p:nvPr/>
        </p:nvSpPr>
        <p:spPr>
          <a:xfrm>
            <a:off x="4231140" y="3476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{{cat8_card3}}</a:t>
            </a:r>
            <a:endParaRPr sz="800"/>
          </a:p>
        </p:txBody>
      </p:sp>
      <p:sp>
        <p:nvSpPr>
          <p:cNvPr id="164" name="Google Shape;164;p15"/>
          <p:cNvSpPr/>
          <p:nvPr/>
        </p:nvSpPr>
        <p:spPr>
          <a:xfrm>
            <a:off x="5457585" y="3476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{{cat8_card4}}</a:t>
            </a:r>
            <a:endParaRPr sz="800"/>
          </a:p>
        </p:txBody>
      </p:sp>
      <p:sp>
        <p:nvSpPr>
          <p:cNvPr id="165" name="Google Shape;165;p15"/>
          <p:cNvSpPr/>
          <p:nvPr/>
        </p:nvSpPr>
        <p:spPr>
          <a:xfrm>
            <a:off x="6684029" y="3476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{{cat8_card5}}</a:t>
            </a:r>
            <a:endParaRPr sz="800"/>
          </a:p>
        </p:txBody>
      </p:sp>
      <p:sp>
        <p:nvSpPr>
          <p:cNvPr id="166" name="Google Shape;166;p15"/>
          <p:cNvSpPr/>
          <p:nvPr/>
        </p:nvSpPr>
        <p:spPr>
          <a:xfrm>
            <a:off x="7910474" y="3476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{{cat8_card6}}</a:t>
            </a:r>
            <a:endParaRPr sz="800"/>
          </a:p>
        </p:txBody>
      </p:sp>
      <p:sp>
        <p:nvSpPr>
          <p:cNvPr id="167" name="Google Shape;167;p15"/>
          <p:cNvSpPr/>
          <p:nvPr/>
        </p:nvSpPr>
        <p:spPr>
          <a:xfrm>
            <a:off x="1778250" y="2612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{{cat7_card1}}</a:t>
            </a:r>
            <a:endParaRPr sz="800"/>
          </a:p>
        </p:txBody>
      </p:sp>
      <p:sp>
        <p:nvSpPr>
          <p:cNvPr id="168" name="Google Shape;168;p15"/>
          <p:cNvSpPr/>
          <p:nvPr/>
        </p:nvSpPr>
        <p:spPr>
          <a:xfrm>
            <a:off x="3004695" y="2612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{{cat7_card2}}</a:t>
            </a:r>
            <a:endParaRPr sz="800"/>
          </a:p>
        </p:txBody>
      </p:sp>
      <p:sp>
        <p:nvSpPr>
          <p:cNvPr id="169" name="Google Shape;169;p15"/>
          <p:cNvSpPr/>
          <p:nvPr/>
        </p:nvSpPr>
        <p:spPr>
          <a:xfrm>
            <a:off x="4231140" y="2612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{{cat7_card3}}</a:t>
            </a:r>
            <a:endParaRPr sz="800"/>
          </a:p>
        </p:txBody>
      </p:sp>
      <p:sp>
        <p:nvSpPr>
          <p:cNvPr id="170" name="Google Shape;170;p15"/>
          <p:cNvSpPr/>
          <p:nvPr/>
        </p:nvSpPr>
        <p:spPr>
          <a:xfrm>
            <a:off x="5457585" y="2612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{{cat7_card4}}</a:t>
            </a:r>
            <a:endParaRPr sz="800"/>
          </a:p>
        </p:txBody>
      </p:sp>
      <p:sp>
        <p:nvSpPr>
          <p:cNvPr id="171" name="Google Shape;171;p15"/>
          <p:cNvSpPr/>
          <p:nvPr/>
        </p:nvSpPr>
        <p:spPr>
          <a:xfrm>
            <a:off x="6684029" y="2612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{{cat7_card5}}</a:t>
            </a:r>
            <a:endParaRPr sz="800"/>
          </a:p>
        </p:txBody>
      </p:sp>
      <p:sp>
        <p:nvSpPr>
          <p:cNvPr id="172" name="Google Shape;172;p15"/>
          <p:cNvSpPr/>
          <p:nvPr/>
        </p:nvSpPr>
        <p:spPr>
          <a:xfrm>
            <a:off x="7910474" y="2612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{{cat7_card6}}</a:t>
            </a:r>
            <a:endParaRPr sz="800"/>
          </a:p>
        </p:txBody>
      </p:sp>
      <p:sp>
        <p:nvSpPr>
          <p:cNvPr id="173" name="Google Shape;173;p15"/>
          <p:cNvSpPr/>
          <p:nvPr/>
        </p:nvSpPr>
        <p:spPr>
          <a:xfrm>
            <a:off x="1778250"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{{cat6_card1}}</a:t>
            </a:r>
            <a:endParaRPr sz="800"/>
          </a:p>
        </p:txBody>
      </p:sp>
      <p:sp>
        <p:nvSpPr>
          <p:cNvPr id="174" name="Google Shape;174;p15"/>
          <p:cNvSpPr/>
          <p:nvPr/>
        </p:nvSpPr>
        <p:spPr>
          <a:xfrm>
            <a:off x="3004695"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{{cat6_card2}}</a:t>
            </a:r>
            <a:endParaRPr sz="800"/>
          </a:p>
        </p:txBody>
      </p:sp>
      <p:sp>
        <p:nvSpPr>
          <p:cNvPr id="175" name="Google Shape;175;p15"/>
          <p:cNvSpPr/>
          <p:nvPr/>
        </p:nvSpPr>
        <p:spPr>
          <a:xfrm>
            <a:off x="4231140"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{{cat6_card3}}</a:t>
            </a:r>
            <a:endParaRPr sz="800"/>
          </a:p>
        </p:txBody>
      </p:sp>
      <p:sp>
        <p:nvSpPr>
          <p:cNvPr id="176" name="Google Shape;176;p15"/>
          <p:cNvSpPr/>
          <p:nvPr/>
        </p:nvSpPr>
        <p:spPr>
          <a:xfrm>
            <a:off x="5457585"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{{cat6_card4}}</a:t>
            </a:r>
            <a:endParaRPr sz="800"/>
          </a:p>
        </p:txBody>
      </p:sp>
      <p:sp>
        <p:nvSpPr>
          <p:cNvPr id="177" name="Google Shape;177;p15"/>
          <p:cNvSpPr/>
          <p:nvPr/>
        </p:nvSpPr>
        <p:spPr>
          <a:xfrm>
            <a:off x="6684029"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{{cat6_card5}}</a:t>
            </a:r>
            <a:endParaRPr sz="800"/>
          </a:p>
        </p:txBody>
      </p:sp>
      <p:sp>
        <p:nvSpPr>
          <p:cNvPr id="178" name="Google Shape;178;p15"/>
          <p:cNvSpPr/>
          <p:nvPr/>
        </p:nvSpPr>
        <p:spPr>
          <a:xfrm>
            <a:off x="7910474"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{{cat6_card6}}</a:t>
            </a:r>
            <a:endParaRPr sz="800"/>
          </a:p>
        </p:txBody>
      </p:sp>
      <p:sp>
        <p:nvSpPr>
          <p:cNvPr id="179" name="Google Shape;179;p15"/>
          <p:cNvSpPr/>
          <p:nvPr/>
        </p:nvSpPr>
        <p:spPr>
          <a:xfrm>
            <a:off x="1778250"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{{cat6_card7}}</a:t>
            </a:r>
            <a:endParaRPr sz="800"/>
          </a:p>
        </p:txBody>
      </p:sp>
      <p:sp>
        <p:nvSpPr>
          <p:cNvPr id="180" name="Google Shape;180;p15"/>
          <p:cNvSpPr/>
          <p:nvPr/>
        </p:nvSpPr>
        <p:spPr>
          <a:xfrm>
            <a:off x="3004695"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{{cat6_card8}}</a:t>
            </a:r>
            <a:endParaRPr sz="800"/>
          </a:p>
        </p:txBody>
      </p:sp>
      <p:sp>
        <p:nvSpPr>
          <p:cNvPr id="181" name="Google Shape;181;p15"/>
          <p:cNvSpPr/>
          <p:nvPr/>
        </p:nvSpPr>
        <p:spPr>
          <a:xfrm>
            <a:off x="4231140"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{{cat6_card9}}</a:t>
            </a:r>
            <a:endParaRPr sz="800"/>
          </a:p>
        </p:txBody>
      </p:sp>
      <p:sp>
        <p:nvSpPr>
          <p:cNvPr id="182" name="Google Shape;182;p15"/>
          <p:cNvSpPr/>
          <p:nvPr/>
        </p:nvSpPr>
        <p:spPr>
          <a:xfrm>
            <a:off x="5457585"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{{cat6_card10}}</a:t>
            </a:r>
            <a:endParaRPr sz="800"/>
          </a:p>
        </p:txBody>
      </p:sp>
      <p:sp>
        <p:nvSpPr>
          <p:cNvPr id="183" name="Google Shape;183;p15"/>
          <p:cNvSpPr/>
          <p:nvPr/>
        </p:nvSpPr>
        <p:spPr>
          <a:xfrm>
            <a:off x="6684029"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{{cat6_card11}}</a:t>
            </a:r>
            <a:endParaRPr sz="800"/>
          </a:p>
        </p:txBody>
      </p:sp>
      <p:sp>
        <p:nvSpPr>
          <p:cNvPr id="184" name="Google Shape;184;p15"/>
          <p:cNvSpPr/>
          <p:nvPr/>
        </p:nvSpPr>
        <p:spPr>
          <a:xfrm>
            <a:off x="7910474"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{{cat6_card12}}</a:t>
            </a:r>
            <a:endParaRPr sz="800"/>
          </a:p>
        </p:txBody>
      </p:sp>
      <p:sp>
        <p:nvSpPr>
          <p:cNvPr id="185" name="Google Shape;185;p15"/>
          <p:cNvSpPr/>
          <p:nvPr/>
        </p:nvSpPr>
        <p:spPr>
          <a:xfrm>
            <a:off x="1778250" y="1723101"/>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{{cat6_card13}}</a:t>
            </a:r>
            <a:endParaRPr sz="800"/>
          </a:p>
        </p:txBody>
      </p:sp>
      <p:sp>
        <p:nvSpPr>
          <p:cNvPr id="186" name="Google Shape;186;p15"/>
          <p:cNvSpPr/>
          <p:nvPr/>
        </p:nvSpPr>
        <p:spPr>
          <a:xfrm>
            <a:off x="3004695" y="1723101"/>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{{cat6_card14}}</a:t>
            </a:r>
            <a:endParaRPr sz="800"/>
          </a:p>
        </p:txBody>
      </p:sp>
      <p:sp>
        <p:nvSpPr>
          <p:cNvPr id="187" name="Google Shape;187;p15"/>
          <p:cNvSpPr/>
          <p:nvPr/>
        </p:nvSpPr>
        <p:spPr>
          <a:xfrm>
            <a:off x="4231140" y="1723101"/>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{{cat6_card15}}</a:t>
            </a:r>
            <a:endParaRPr sz="800"/>
          </a:p>
        </p:txBody>
      </p:sp>
      <p:sp>
        <p:nvSpPr>
          <p:cNvPr id="188" name="Google Shape;188;p15"/>
          <p:cNvSpPr/>
          <p:nvPr/>
        </p:nvSpPr>
        <p:spPr>
          <a:xfrm>
            <a:off x="5457585" y="1723101"/>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{{cat6_card16}}</a:t>
            </a:r>
            <a:endParaRPr sz="800"/>
          </a:p>
        </p:txBody>
      </p:sp>
      <p:sp>
        <p:nvSpPr>
          <p:cNvPr id="189" name="Google Shape;189;p15"/>
          <p:cNvSpPr/>
          <p:nvPr/>
        </p:nvSpPr>
        <p:spPr>
          <a:xfrm>
            <a:off x="6684029" y="1723101"/>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{{cat6_card17}}</a:t>
            </a:r>
            <a:endParaRPr sz="800"/>
          </a:p>
        </p:txBody>
      </p:sp>
      <p:sp>
        <p:nvSpPr>
          <p:cNvPr id="190" name="Google Shape;190;p15"/>
          <p:cNvSpPr/>
          <p:nvPr/>
        </p:nvSpPr>
        <p:spPr>
          <a:xfrm>
            <a:off x="7910474" y="1723101"/>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{{cat6_card18}}</a:t>
            </a:r>
            <a:endParaRPr sz="800"/>
          </a:p>
        </p:txBody>
      </p:sp>
      <p:sp>
        <p:nvSpPr>
          <p:cNvPr id="191" name="Google Shape;191;p15"/>
          <p:cNvSpPr/>
          <p:nvPr/>
        </p:nvSpPr>
        <p:spPr>
          <a:xfrm>
            <a:off x="9214775" y="53125"/>
            <a:ext cx="1174200" cy="7737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{{cat6_card19}}</a:t>
            </a:r>
            <a:endParaRPr sz="800"/>
          </a:p>
        </p:txBody>
      </p:sp>
      <p:sp>
        <p:nvSpPr>
          <p:cNvPr id="192" name="Google Shape;192;p15"/>
          <p:cNvSpPr/>
          <p:nvPr/>
        </p:nvSpPr>
        <p:spPr>
          <a:xfrm>
            <a:off x="9367175" y="244979"/>
            <a:ext cx="1174200" cy="7737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{{cat6_card20}}</a:t>
            </a:r>
            <a:endParaRPr sz="800"/>
          </a:p>
        </p:txBody>
      </p:sp>
      <p:sp>
        <p:nvSpPr>
          <p:cNvPr id="193" name="Google Shape;193;p15"/>
          <p:cNvSpPr/>
          <p:nvPr/>
        </p:nvSpPr>
        <p:spPr>
          <a:xfrm>
            <a:off x="9519575" y="436833"/>
            <a:ext cx="1174200" cy="7737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{{cat6_card21}}</a:t>
            </a:r>
            <a:endParaRPr sz="800"/>
          </a:p>
        </p:txBody>
      </p:sp>
      <p:sp>
        <p:nvSpPr>
          <p:cNvPr id="194" name="Google Shape;194;p15"/>
          <p:cNvSpPr/>
          <p:nvPr/>
        </p:nvSpPr>
        <p:spPr>
          <a:xfrm>
            <a:off x="9671975" y="628688"/>
            <a:ext cx="1174200" cy="7737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{{cat6_card22}}</a:t>
            </a:r>
            <a:endParaRPr sz="800"/>
          </a:p>
        </p:txBody>
      </p:sp>
      <p:sp>
        <p:nvSpPr>
          <p:cNvPr id="195" name="Google Shape;195;p15"/>
          <p:cNvSpPr/>
          <p:nvPr/>
        </p:nvSpPr>
        <p:spPr>
          <a:xfrm>
            <a:off x="9824375" y="820542"/>
            <a:ext cx="1174200" cy="7737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{{cat6_card23}}</a:t>
            </a:r>
            <a:endParaRPr sz="800"/>
          </a:p>
        </p:txBody>
      </p:sp>
      <p:sp>
        <p:nvSpPr>
          <p:cNvPr id="196" name="Google Shape;196;p15"/>
          <p:cNvSpPr/>
          <p:nvPr/>
        </p:nvSpPr>
        <p:spPr>
          <a:xfrm>
            <a:off x="9976775" y="1012396"/>
            <a:ext cx="1174200" cy="7737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{{cat6_card24}}</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0" name="Shape 200"/>
        <p:cNvGrpSpPr/>
        <p:nvPr/>
      </p:nvGrpSpPr>
      <p:grpSpPr>
        <a:xfrm>
          <a:off x="0" y="0"/>
          <a:ext cx="0" cy="0"/>
          <a:chOff x="0" y="0"/>
          <a:chExt cx="0" cy="0"/>
        </a:xfrm>
      </p:grpSpPr>
      <p:graphicFrame>
        <p:nvGraphicFramePr>
          <p:cNvPr id="201" name="Google Shape;201;p16"/>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accent5"/>
                          </a:solidFill>
                          <a:hlinkClick r:id="rId3">
                            <a:extLst>
                              <a:ext uri="{A12FA001-AC4F-418D-AE19-62706E023703}">
                                <ahyp:hlinkClr val="tx"/>
                              </a:ext>
                            </a:extLst>
                          </a:hlinkClick>
                        </a:rPr>
                        <a:t>{{title}}</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{{summary}}</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rPr lang="en" sz="1600">
                          <a:solidFill>
                            <a:schemeClr val="lt1"/>
                          </a:solidFill>
                        </a:rPr>
                        <a:t>{{notes}}</a:t>
                      </a:r>
                      <a:endParaRPr>
                        <a:solidFill>
                          <a:schemeClr val="lt1"/>
                        </a:solidFill>
                      </a:endParaRPr>
                    </a:p>
                  </a:txBody>
                  <a:tcPr marT="91425" marB="91425" marR="91425" marL="91425">
                    <a:solidFill>
                      <a:schemeClr val="dk1"/>
                    </a:solidFill>
                  </a:tcPr>
                </a:tc>
              </a:tr>
            </a:tbl>
          </a:graphicData>
        </a:graphic>
      </p:graphicFrame>
      <p:sp>
        <p:nvSpPr>
          <p:cNvPr id="202" name="Google Shape;202;p1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{{sqk}}</a:t>
            </a:r>
            <a:endParaRPr b="1" sz="3800">
              <a:solidFill>
                <a:schemeClr val="dk1"/>
              </a:solidFill>
            </a:endParaRPr>
          </a:p>
        </p:txBody>
      </p:sp>
      <p:sp>
        <p:nvSpPr>
          <p:cNvPr id="203" name="Google Shape;203;p1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{{priority}}</a:t>
            </a:r>
            <a:endParaRPr b="1"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7" name="Shape 207"/>
        <p:cNvGrpSpPr/>
        <p:nvPr/>
      </p:nvGrpSpPr>
      <p:grpSpPr>
        <a:xfrm>
          <a:off x="0" y="0"/>
          <a:ext cx="0" cy="0"/>
          <a:chOff x="0" y="0"/>
          <a:chExt cx="0" cy="0"/>
        </a:xfrm>
      </p:grpSpPr>
      <p:graphicFrame>
        <p:nvGraphicFramePr>
          <p:cNvPr id="208" name="Google Shape;208;p17"/>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Trump signs bill to end partial government shutdown, setting stage for next fight - AP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Президент Дональд Трамп подписал законопроект о финансировании правительства, который завершает частичную приостановку работы федеральных органов, начавшуюся в выходные, и создает основу для интенсивных дебатов в Конгрессе по вопросу финансирования Министерства внутренней безопасности. Голосование завершает работу Конгресса над 11 из 12 ежегодных законопроектов о выделении средств, финансируя большую часть правительства до 30 сентября. Однако впереди еще одна битва за финансирование, касающаяся Министерства внутренней безопасности, где демократы требуют больше ограничений на операции по обеспечению правопорядка.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09" name="Google Shape;209;p1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a:t>
            </a:r>
            <a:endParaRPr b="1" sz="3800">
              <a:solidFill>
                <a:schemeClr val="dk1"/>
              </a:solidFill>
            </a:endParaRPr>
          </a:p>
        </p:txBody>
      </p:sp>
      <p:sp>
        <p:nvSpPr>
          <p:cNvPr id="210" name="Google Shape;210;p1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4" name="Shape 214"/>
        <p:cNvGrpSpPr/>
        <p:nvPr/>
      </p:nvGrpSpPr>
      <p:grpSpPr>
        <a:xfrm>
          <a:off x="0" y="0"/>
          <a:ext cx="0" cy="0"/>
          <a:chOff x="0" y="0"/>
          <a:chExt cx="0" cy="0"/>
        </a:xfrm>
      </p:grpSpPr>
      <p:graphicFrame>
        <p:nvGraphicFramePr>
          <p:cNvPr id="215" name="Google Shape;215;p18"/>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Trump and Xi discuss Iran in wide-ranging call as US presses China and others to break from Tehran - AP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Президент Дональд Трамп заявил, что он и председатель КНР Си Цзиньпин обсудили ситуацию в Иране в ходе широкомасштабного телефонного разговора, поскольку администрация США призывает Пекин и другие страны к дальнейшей изоляции Тегерана. Лидеры также обсудили Тайвань и планы Трампа посетить Пекин. Китайское правительство подтвердило обсуждение предстоящих саммитов, которые обе страны будут проводить в следующем году, но не упомянуло о планируемом визите Трампа в апреле.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16" name="Google Shape;216;p1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a:t>
            </a:r>
            <a:endParaRPr b="1" sz="3800">
              <a:solidFill>
                <a:schemeClr val="dk1"/>
              </a:solidFill>
            </a:endParaRPr>
          </a:p>
        </p:txBody>
      </p:sp>
      <p:sp>
        <p:nvSpPr>
          <p:cNvPr id="217" name="Google Shape;217;p1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1" name="Shape 221"/>
        <p:cNvGrpSpPr/>
        <p:nvPr/>
      </p:nvGrpSpPr>
      <p:grpSpPr>
        <a:xfrm>
          <a:off x="0" y="0"/>
          <a:ext cx="0" cy="0"/>
          <a:chOff x="0" y="0"/>
          <a:chExt cx="0" cy="0"/>
        </a:xfrm>
      </p:grpSpPr>
      <p:graphicFrame>
        <p:nvGraphicFramePr>
          <p:cNvPr id="222" name="Google Shape;222;p19"/>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U.S.-Iran talks planned for Friday in Oman after U.S. shoots down Iranian drone - CBS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Переговоры между США и Ираном должны состояться в пятницу в Омане после того, как американские военные сбили иранский дрон, а иранские силы пригрозили захватить судно под флагом США. Иран стремится к прямым переговорам с США без посредников, что давно поддерживается администрацией Трампа. В преддверии переговоров премьер-министр Израиля Биньямин Нетаньяху встретился с посланником президента Трампа в Израиле, выразив скептицизм по поводу дипломатии, которую союзники США пытаются организовать, чтобы избежать ударов по Ирану.</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23" name="Google Shape;223;p1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6</a:t>
            </a:r>
            <a:endParaRPr b="1" sz="3800">
              <a:solidFill>
                <a:schemeClr val="dk1"/>
              </a:solidFill>
            </a:endParaRPr>
          </a:p>
        </p:txBody>
      </p:sp>
      <p:sp>
        <p:nvSpPr>
          <p:cNvPr id="224" name="Google Shape;224;p1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8" name="Shape 228"/>
        <p:cNvGrpSpPr/>
        <p:nvPr/>
      </p:nvGrpSpPr>
      <p:grpSpPr>
        <a:xfrm>
          <a:off x="0" y="0"/>
          <a:ext cx="0" cy="0"/>
          <a:chOff x="0" y="0"/>
          <a:chExt cx="0" cy="0"/>
        </a:xfrm>
      </p:grpSpPr>
      <p:graphicFrame>
        <p:nvGraphicFramePr>
          <p:cNvPr id="229" name="Google Shape;229;p20"/>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The last US-Russian nuclear pact is about to expire, ending a half-century of arms control - AP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Последний оставшийся ядерный договор между Россией и США истекает на этой неделе, впервые за более чем полвека снимая ограничения на два крупнейших атомных арсенала. Завершение Договора о сокращении стратегических наступательных вооружений (New START) создает условия для того, что многие опасаются, может привести к неконтролируемой гонке ядерных вооружений. Президент России Владимир Путин заявил о готовности соблюдать ограничения договора еще год, если Вашингтон поступит так же, но президент США Дональд Трамп не выразил готовности продлить его. Сторонники контроля над вооружениями предупреждают, что прекращение действия договора может спровоцировать новую гонку вооружений.</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30" name="Google Shape;230;p2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7</a:t>
            </a:r>
            <a:endParaRPr b="1" sz="3800">
              <a:solidFill>
                <a:schemeClr val="dk1"/>
              </a:solidFill>
            </a:endParaRPr>
          </a:p>
        </p:txBody>
      </p:sp>
      <p:sp>
        <p:nvSpPr>
          <p:cNvPr id="231" name="Google Shape;231;p2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5" name="Shape 235"/>
        <p:cNvGrpSpPr/>
        <p:nvPr/>
      </p:nvGrpSpPr>
      <p:grpSpPr>
        <a:xfrm>
          <a:off x="0" y="0"/>
          <a:ext cx="0" cy="0"/>
          <a:chOff x="0" y="0"/>
          <a:chExt cx="0" cy="0"/>
        </a:xfrm>
      </p:grpSpPr>
      <p:graphicFrame>
        <p:nvGraphicFramePr>
          <p:cNvPr id="236" name="Google Shape;236;p21"/>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Trump withdraws 700 immigration agents from Minnesota deportation surge, thousands remain - Reuters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Президент Дональд Трамп объявил о немедленном отзыве 700 сотрудников Министерства внутренней безопасности из Миннеаполиса в рамках операции по усилению депортации. Это решение было принято после протестов и инцидентов с участием агентов, вызвавших недовольство местных жителей. Полное сокращение численности персонала будет зависеть от сотрудничества с местными и государственными правоохранительными органами.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37" name="Google Shape;237;p2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8</a:t>
            </a:r>
            <a:endParaRPr b="1" sz="3800">
              <a:solidFill>
                <a:schemeClr val="dk1"/>
              </a:solidFill>
            </a:endParaRPr>
          </a:p>
        </p:txBody>
      </p:sp>
      <p:sp>
        <p:nvSpPr>
          <p:cNvPr id="238" name="Google Shape;238;p2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2" name="Shape 242"/>
        <p:cNvGrpSpPr/>
        <p:nvPr/>
      </p:nvGrpSpPr>
      <p:grpSpPr>
        <a:xfrm>
          <a:off x="0" y="0"/>
          <a:ext cx="0" cy="0"/>
          <a:chOff x="0" y="0"/>
          <a:chExt cx="0" cy="0"/>
        </a:xfrm>
      </p:grpSpPr>
      <p:graphicFrame>
        <p:nvGraphicFramePr>
          <p:cNvPr id="243" name="Google Shape;243;p22"/>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Trump's call to 'nationalize' elections draws furious pushback from Democrats - Reuters</a:t>
                      </a:r>
                      <a:endParaRPr sz="1600">
                        <a:solidFill>
                          <a:schemeClr val="lt1"/>
                        </a:solidFill>
                      </a:endParaRPr>
                    </a:p>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44" name="Google Shape;244;p2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9</a:t>
            </a:r>
            <a:endParaRPr b="1" sz="3800">
              <a:solidFill>
                <a:schemeClr val="dk1"/>
              </a:solidFill>
            </a:endParaRPr>
          </a:p>
        </p:txBody>
      </p:sp>
      <p:sp>
        <p:nvSpPr>
          <p:cNvPr id="245" name="Google Shape;245;p2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9" name="Shape 249"/>
        <p:cNvGrpSpPr/>
        <p:nvPr/>
      </p:nvGrpSpPr>
      <p:grpSpPr>
        <a:xfrm>
          <a:off x="0" y="0"/>
          <a:ext cx="0" cy="0"/>
          <a:chOff x="0" y="0"/>
          <a:chExt cx="0" cy="0"/>
        </a:xfrm>
      </p:grpSpPr>
      <p:graphicFrame>
        <p:nvGraphicFramePr>
          <p:cNvPr id="250" name="Google Shape;250;p23"/>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Pakistan: Video of 8-month lion cub travelling in a car goes viral; netizens say 'its eyes look so sad' - Business Today</a:t>
                      </a:r>
                      <a:endParaRPr sz="1600">
                        <a:solidFill>
                          <a:schemeClr val="lt1"/>
                        </a:solidFill>
                      </a:endParaRPr>
                    </a:p>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51" name="Google Shape;251;p23"/>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10</a:t>
            </a:r>
            <a:endParaRPr b="1" sz="3800">
              <a:solidFill>
                <a:schemeClr val="dk1"/>
              </a:solidFill>
            </a:endParaRPr>
          </a:p>
        </p:txBody>
      </p:sp>
      <p:sp>
        <p:nvSpPr>
          <p:cNvPr id="252" name="Google Shape;252;p23"/>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6" name="Shape 256"/>
        <p:cNvGrpSpPr/>
        <p:nvPr/>
      </p:nvGrpSpPr>
      <p:grpSpPr>
        <a:xfrm>
          <a:off x="0" y="0"/>
          <a:ext cx="0" cy="0"/>
          <a:chOff x="0" y="0"/>
          <a:chExt cx="0" cy="0"/>
        </a:xfrm>
      </p:grpSpPr>
      <p:graphicFrame>
        <p:nvGraphicFramePr>
          <p:cNvPr id="257" name="Google Shape;257;p24"/>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Jeffrey Epstein's ties to politicians, business titans and other figures - Reuters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Министерство юстиции США опубликовало миллионы внутренних документов, связанных с Джеффри Эпштейном, которые раскрывают его связи с многими известными людьми в политике, финансах, академической среде и бизнесе. Эти связи существовали как до, так и после его признания вины в 2008 году по обвинению в проституции, включая привлечение несовершеннолетней. Эпштейн был снова арестован в 2019 году по федеральным обвинениям в торговле несовершеннолетними. Его смерть в тюремной камере в Манхэттене в 2019 году была признана самоубийством. Министерство юстиции предупредило, что материалы могут содержать поддельные изображения или ложные обвинения.</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58" name="Google Shape;258;p2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11</a:t>
            </a:r>
            <a:endParaRPr b="1" sz="3800">
              <a:solidFill>
                <a:schemeClr val="dk1"/>
              </a:solidFill>
            </a:endParaRPr>
          </a:p>
        </p:txBody>
      </p:sp>
      <p:sp>
        <p:nvSpPr>
          <p:cNvPr id="259" name="Google Shape;259;p2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3" name="Shape 263"/>
        <p:cNvGrpSpPr/>
        <p:nvPr/>
      </p:nvGrpSpPr>
      <p:grpSpPr>
        <a:xfrm>
          <a:off x="0" y="0"/>
          <a:ext cx="0" cy="0"/>
          <a:chOff x="0" y="0"/>
          <a:chExt cx="0" cy="0"/>
        </a:xfrm>
      </p:grpSpPr>
      <p:graphicFrame>
        <p:nvGraphicFramePr>
          <p:cNvPr id="264" name="Google Shape;264;p25"/>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Johnson balks at Dem demands to halt warrantless searches by ICE agents - Courthouse News</a:t>
                      </a:r>
                      <a:endParaRPr sz="1600">
                        <a:solidFill>
                          <a:schemeClr val="lt1"/>
                        </a:solidFill>
                      </a:endParaRPr>
                    </a:p>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65" name="Google Shape;265;p25"/>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12</a:t>
            </a:r>
            <a:endParaRPr b="1" sz="3800">
              <a:solidFill>
                <a:schemeClr val="dk1"/>
              </a:solidFill>
            </a:endParaRPr>
          </a:p>
        </p:txBody>
      </p:sp>
      <p:sp>
        <p:nvSpPr>
          <p:cNvPr id="266" name="Google Shape;266;p25"/>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0" name="Shape 270"/>
        <p:cNvGrpSpPr/>
        <p:nvPr/>
      </p:nvGrpSpPr>
      <p:grpSpPr>
        <a:xfrm>
          <a:off x="0" y="0"/>
          <a:ext cx="0" cy="0"/>
          <a:chOff x="0" y="0"/>
          <a:chExt cx="0" cy="0"/>
        </a:xfrm>
      </p:grpSpPr>
      <p:graphicFrame>
        <p:nvGraphicFramePr>
          <p:cNvPr id="271" name="Google Shape;271;p26"/>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House Democrats demand DHS scrap memo allowing warrantless entry of homes - Courthouse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Демократы Палаты представителей требуют от Министерства внутренней безопасности (DHS) отменить утечку меморандума 2025 года, который разрешает федеральным агентам входить в дома без судебного ордера. Они обвиняют DHS в нарушении Четвертой поправки.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72" name="Google Shape;272;p2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13</a:t>
            </a:r>
            <a:endParaRPr b="1" sz="3800">
              <a:solidFill>
                <a:schemeClr val="dk1"/>
              </a:solidFill>
            </a:endParaRPr>
          </a:p>
        </p:txBody>
      </p:sp>
      <p:sp>
        <p:nvSpPr>
          <p:cNvPr id="273" name="Google Shape;273;p2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7" name="Shape 277"/>
        <p:cNvGrpSpPr/>
        <p:nvPr/>
      </p:nvGrpSpPr>
      <p:grpSpPr>
        <a:xfrm>
          <a:off x="0" y="0"/>
          <a:ext cx="0" cy="0"/>
          <a:chOff x="0" y="0"/>
          <a:chExt cx="0" cy="0"/>
        </a:xfrm>
      </p:grpSpPr>
      <p:graphicFrame>
        <p:nvGraphicFramePr>
          <p:cNvPr id="278" name="Google Shape;278;p27"/>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Epstein files reveal close ties to Trump's influential inner circle - PBS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Последний пакет документов, связанных с Джеффри Эпштейном, раскрывает новые подробности о том, насколько ключевые члены окружения президента Дональда Трампа взаимодействовали с Эпштейном в течение многих лет после его первоначального ареста и осуждения. В документах упоминаются такие фигуры, как бывший советник Трампа Стив Бэннон, глава Tesla Илон Маск и министр торговли Говард Латник. Хотя прямых доказательств участия Трампа или его окружения в сексуальной торговле или насилии не обнаружено, документы вызывают вопросы о характере их отношений с Эпштейном.</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79" name="Google Shape;279;p2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14</a:t>
            </a:r>
            <a:endParaRPr b="1" sz="3800">
              <a:solidFill>
                <a:schemeClr val="dk1"/>
              </a:solidFill>
            </a:endParaRPr>
          </a:p>
        </p:txBody>
      </p:sp>
      <p:sp>
        <p:nvSpPr>
          <p:cNvPr id="280" name="Google Shape;280;p2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4" name="Shape 284"/>
        <p:cNvGrpSpPr/>
        <p:nvPr/>
      </p:nvGrpSpPr>
      <p:grpSpPr>
        <a:xfrm>
          <a:off x="0" y="0"/>
          <a:ext cx="0" cy="0"/>
          <a:chOff x="0" y="0"/>
          <a:chExt cx="0" cy="0"/>
        </a:xfrm>
      </p:grpSpPr>
      <p:graphicFrame>
        <p:nvGraphicFramePr>
          <p:cNvPr id="285" name="Google Shape;285;p28"/>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Georgia's Fulton County seeks return of 2020 election documents seized by FBI - NBC10 Philadelphia</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Округ Фултон в Джорджии обратился в федеральный суд с требованием вернуть все бюллетени и другие документы выборов 2020 года, которые были изъяты ФБР. Округ также требует рассекретить заявление под присягой, представленное агентом правоохранительных органов судье, который одобрил ордер на обыск. Это дело связано с продолжающимися спорами вокруг выборов 2020 года, в которых бывший президент Дональд Трамп утверждает о массовых фальсификациях голосов, несмотря на отсутствие доказательств.</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86" name="Google Shape;286;p2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15</a:t>
            </a:r>
            <a:endParaRPr b="1" sz="3800">
              <a:solidFill>
                <a:schemeClr val="dk1"/>
              </a:solidFill>
            </a:endParaRPr>
          </a:p>
        </p:txBody>
      </p:sp>
      <p:sp>
        <p:nvSpPr>
          <p:cNvPr id="287" name="Google Shape;287;p2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1" name="Shape 291"/>
        <p:cNvGrpSpPr/>
        <p:nvPr/>
      </p:nvGrpSpPr>
      <p:grpSpPr>
        <a:xfrm>
          <a:off x="0" y="0"/>
          <a:ext cx="0" cy="0"/>
          <a:chOff x="0" y="0"/>
          <a:chExt cx="0" cy="0"/>
        </a:xfrm>
      </p:grpSpPr>
      <p:graphicFrame>
        <p:nvGraphicFramePr>
          <p:cNvPr id="292" name="Google Shape;292;p29"/>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Clintons finalize agreement to testify in House Epstein probe, bowing to threat of contempt vote - AP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Бывший президент Билл Клинтон и бывший госсекретарь Хиллари Клинтон согласились дать показания в расследовании Палаты представителей по делу Джеффри Эпштейна, чтобы избежать голосования о неуважении к Конгрессу. Хиллари Клинтон выступит перед Комитетом по надзору Палаты представителей 26 февраля, а Билл Клинтон — 27 февраля. Это будет первый случай, когда бывший президент будет вынужден давать показания перед законодателями.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93" name="Google Shape;293;p2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16</a:t>
            </a:r>
            <a:endParaRPr b="1" sz="3800">
              <a:solidFill>
                <a:schemeClr val="dk1"/>
              </a:solidFill>
            </a:endParaRPr>
          </a:p>
        </p:txBody>
      </p:sp>
      <p:sp>
        <p:nvSpPr>
          <p:cNvPr id="294" name="Google Shape;294;p2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8" name="Shape 298"/>
        <p:cNvGrpSpPr/>
        <p:nvPr/>
      </p:nvGrpSpPr>
      <p:grpSpPr>
        <a:xfrm>
          <a:off x="0" y="0"/>
          <a:ext cx="0" cy="0"/>
          <a:chOff x="0" y="0"/>
          <a:chExt cx="0" cy="0"/>
        </a:xfrm>
      </p:grpSpPr>
      <p:graphicFrame>
        <p:nvGraphicFramePr>
          <p:cNvPr id="299" name="Google Shape;299;p30"/>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Judge set to hear arguments as court gives Trump another shot at nixing hush money conviction - AP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Федеральный судья, вероятно, снова отклонит попытку Дональда Трампа аннулировать его обвинение в выплате за молчание, критикуя его адвокатов за юридические манёвры, которые он назвал попыткой 'второго укуса яблока'. Судья Элвин К. Хеллерстайн, следуя указаниям апелляционного суда, провёл почти три часа устных слушаний в федеральном суде Манхэттена, выражая как любопытство, так и недоверие.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00" name="Google Shape;300;p3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17</a:t>
            </a:r>
            <a:endParaRPr b="1" sz="3800">
              <a:solidFill>
                <a:schemeClr val="dk1"/>
              </a:solidFill>
            </a:endParaRPr>
          </a:p>
        </p:txBody>
      </p:sp>
      <p:sp>
        <p:nvSpPr>
          <p:cNvPr id="301" name="Google Shape;301;p3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5" name="Shape 305"/>
        <p:cNvGrpSpPr/>
        <p:nvPr/>
      </p:nvGrpSpPr>
      <p:grpSpPr>
        <a:xfrm>
          <a:off x="0" y="0"/>
          <a:ext cx="0" cy="0"/>
          <a:chOff x="0" y="0"/>
          <a:chExt cx="0" cy="0"/>
        </a:xfrm>
      </p:grpSpPr>
      <p:graphicFrame>
        <p:nvGraphicFramePr>
          <p:cNvPr id="306" name="Google Shape;306;p31"/>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Comedian defiant as Minnesota venue cancels six sold-out shows after he mocked Renee Good - Yahoo</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Комедийный клуб в Миннесоте отменил шесть аншлаговых шоу комика Бена Банкаса после того, как его шутки о женщине, убитой агентом ICE, вызвали возмущение. Банкас ответил на отмену видео в Instagram, заявив, что ищет новое место для выступлений в Миннесоте. Владелец клуба сослался на растущие риски, включая угрозы и запланированные протесты, как причины отмены шоу, что может стоить Банкасу 17 000 долларов.</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07" name="Google Shape;307;p3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18</a:t>
            </a:r>
            <a:endParaRPr b="1" sz="3800">
              <a:solidFill>
                <a:schemeClr val="dk1"/>
              </a:solidFill>
            </a:endParaRPr>
          </a:p>
        </p:txBody>
      </p:sp>
      <p:sp>
        <p:nvSpPr>
          <p:cNvPr id="308" name="Google Shape;308;p3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2" name="Shape 312"/>
        <p:cNvGrpSpPr/>
        <p:nvPr/>
      </p:nvGrpSpPr>
      <p:grpSpPr>
        <a:xfrm>
          <a:off x="0" y="0"/>
          <a:ext cx="0" cy="0"/>
          <a:chOff x="0" y="0"/>
          <a:chExt cx="0" cy="0"/>
        </a:xfrm>
      </p:grpSpPr>
      <p:graphicFrame>
        <p:nvGraphicFramePr>
          <p:cNvPr id="313" name="Google Shape;313;p32"/>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Solicitor general backs Catholic preschools at Supreme Court - Yahoo</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Генеральный солиситор США Джон Сауэр подал заявление в Верховный суд США в поддержку католических школ Колорадо в их деле о религиозной дискриминации против штата. В 2023 году архиепископия Денвера и два католических дошкольных учреждения подали иск против штата Колорадо из-за требования программы универсального дошкольного образования принимать всех студентов, независимо от сексуальной ориентации или гендерной идентичности. Федеральный апелляционный суд поддержал требование Колорадо, и истцы обратились в Верховный суд с просьбой рассмотреть дело.</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14" name="Google Shape;314;p3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19</a:t>
            </a:r>
            <a:endParaRPr b="1" sz="3800">
              <a:solidFill>
                <a:schemeClr val="dk1"/>
              </a:solidFill>
            </a:endParaRPr>
          </a:p>
        </p:txBody>
      </p:sp>
      <p:sp>
        <p:nvSpPr>
          <p:cNvPr id="315" name="Google Shape;315;p3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9" name="Shape 319"/>
        <p:cNvGrpSpPr/>
        <p:nvPr/>
      </p:nvGrpSpPr>
      <p:grpSpPr>
        <a:xfrm>
          <a:off x="0" y="0"/>
          <a:ext cx="0" cy="0"/>
          <a:chOff x="0" y="0"/>
          <a:chExt cx="0" cy="0"/>
        </a:xfrm>
      </p:grpSpPr>
      <p:graphicFrame>
        <p:nvGraphicFramePr>
          <p:cNvPr id="320" name="Google Shape;320;p33"/>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Russia and Ukraine envoys meet in Abu Dhabi for 2 days of US-brokered talks - AP News</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Представители Москвы и Киева встретились в Абу-Даби для переговоров, организованных США, с целью завершения почти четырехлетней войны. Переговоры проходят на фоне обострения конфликта, включая недавние атаки российскими кассетными боеприпасами, которые привели к гибели семи человек на рынке в Украине. Встреча также совпадает с истечением срока действия последнего договора о ядерных вооружениях между Россией и США. Украинские официальные лица выразили возмущение продолжающимися атаками на энергетическую инфраструктуру страны, что привело к значительным разрушениям.</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21" name="Google Shape;321;p33"/>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20</a:t>
            </a:r>
            <a:endParaRPr b="1" sz="3800">
              <a:solidFill>
                <a:schemeClr val="dk1"/>
              </a:solidFill>
            </a:endParaRPr>
          </a:p>
        </p:txBody>
      </p:sp>
      <p:sp>
        <p:nvSpPr>
          <p:cNvPr id="322" name="Google Shape;322;p33"/>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6" name="Shape 326"/>
        <p:cNvGrpSpPr/>
        <p:nvPr/>
      </p:nvGrpSpPr>
      <p:grpSpPr>
        <a:xfrm>
          <a:off x="0" y="0"/>
          <a:ext cx="0" cy="0"/>
          <a:chOff x="0" y="0"/>
          <a:chExt cx="0" cy="0"/>
        </a:xfrm>
      </p:grpSpPr>
      <p:graphicFrame>
        <p:nvGraphicFramePr>
          <p:cNvPr id="327" name="Google Shape;327;p34"/>
          <p:cNvGraphicFramePr/>
          <p:nvPr/>
        </p:nvGraphicFramePr>
        <p:xfrm>
          <a:off x="0" y="0"/>
          <a:ext cx="3000000" cy="3000000"/>
        </p:xfrm>
        <a:graphic>
          <a:graphicData uri="http://schemas.openxmlformats.org/drawingml/2006/table">
            <a:tbl>
              <a:tblPr>
                <a:noFill/>
                <a:tableStyleId>{ED8C1FB8-AA7E-4C08-AC4C-1C0CE4C4A1BA}</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Russia breaks Trump-brokered energy ceasefire - politico.eu</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a:solidFill>
                            <a:schemeClr val="lt1"/>
                          </a:solidFill>
                        </a:rPr>
                        <a:t>Россия нарушила кратковременное перемирие в энергетическом секторе, запустив 450 дронов и более 60 ракет по Украине, оставив 1,170 жилых домов в Киеве без отопления. Это произошло на фоне новых трехсторонних переговоров между Украиной, Россией и США в Абу-Даби. Президент Украины Владимир Зеленский заявил, что эти атаки показывают, что Россия не воспринимает дипломатию всерьез. Основные препятствия на пути к мирному соглашению остаются: требования России о передаче территорий в Донбассе и требования Украины о гарантиях безопасности.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28" name="Google Shape;328;p3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a:t>
            </a:r>
            <a:endParaRPr b="1" sz="3800">
              <a:solidFill>
                <a:schemeClr val="dk1"/>
              </a:solidFill>
            </a:endParaRPr>
          </a:p>
        </p:txBody>
      </p:sp>
      <p:sp>
        <p:nvSpPr>
          <p:cNvPr id="329" name="Google Shape;329;p3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